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DD5CE4-F413-45C1-B1C4-35DBFD7FB98D}" v="125" dt="2025-07-13T13:53:08.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0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RAV KUMAR" userId="687954897933c287" providerId="LiveId" clId="{65DD5CE4-F413-45C1-B1C4-35DBFD7FB98D}"/>
    <pc:docChg chg="undo custSel addSld delSld modSld">
      <pc:chgData name="SOURAV KUMAR" userId="687954897933c287" providerId="LiveId" clId="{65DD5CE4-F413-45C1-B1C4-35DBFD7FB98D}" dt="2025-07-13T14:00:17.032" v="893" actId="14100"/>
      <pc:docMkLst>
        <pc:docMk/>
      </pc:docMkLst>
      <pc:sldChg chg="modSp mod">
        <pc:chgData name="SOURAV KUMAR" userId="687954897933c287" providerId="LiveId" clId="{65DD5CE4-F413-45C1-B1C4-35DBFD7FB98D}" dt="2025-07-13T13:58:38.503" v="885" actId="20577"/>
        <pc:sldMkLst>
          <pc:docMk/>
          <pc:sldMk cId="0" sldId="256"/>
        </pc:sldMkLst>
        <pc:spChg chg="mod">
          <ac:chgData name="SOURAV KUMAR" userId="687954897933c287" providerId="LiveId" clId="{65DD5CE4-F413-45C1-B1C4-35DBFD7FB98D}" dt="2025-07-13T13:57:54.047" v="844" actId="1076"/>
          <ac:spMkLst>
            <pc:docMk/>
            <pc:sldMk cId="0" sldId="256"/>
            <ac:spMk id="2" creationId="{00000000-0000-0000-0000-000000000000}"/>
          </ac:spMkLst>
        </pc:spChg>
        <pc:spChg chg="mod">
          <ac:chgData name="SOURAV KUMAR" userId="687954897933c287" providerId="LiveId" clId="{65DD5CE4-F413-45C1-B1C4-35DBFD7FB98D}" dt="2025-07-13T13:58:38.503" v="885" actId="20577"/>
          <ac:spMkLst>
            <pc:docMk/>
            <pc:sldMk cId="0" sldId="256"/>
            <ac:spMk id="3" creationId="{00000000-0000-0000-0000-000000000000}"/>
          </ac:spMkLst>
        </pc:spChg>
      </pc:sldChg>
      <pc:sldChg chg="modSp mod">
        <pc:chgData name="SOURAV KUMAR" userId="687954897933c287" providerId="LiveId" clId="{65DD5CE4-F413-45C1-B1C4-35DBFD7FB98D}" dt="2025-07-13T14:00:07.815" v="892" actId="14100"/>
        <pc:sldMkLst>
          <pc:docMk/>
          <pc:sldMk cId="0" sldId="257"/>
        </pc:sldMkLst>
        <pc:spChg chg="mod">
          <ac:chgData name="SOURAV KUMAR" userId="687954897933c287" providerId="LiveId" clId="{65DD5CE4-F413-45C1-B1C4-35DBFD7FB98D}" dt="2025-07-13T13:42:20.521" v="653"/>
          <ac:spMkLst>
            <pc:docMk/>
            <pc:sldMk cId="0" sldId="257"/>
            <ac:spMk id="2" creationId="{00000000-0000-0000-0000-000000000000}"/>
          </ac:spMkLst>
        </pc:spChg>
        <pc:spChg chg="mod">
          <ac:chgData name="SOURAV KUMAR" userId="687954897933c287" providerId="LiveId" clId="{65DD5CE4-F413-45C1-B1C4-35DBFD7FB98D}" dt="2025-07-13T14:00:07.815" v="892" actId="14100"/>
          <ac:spMkLst>
            <pc:docMk/>
            <pc:sldMk cId="0" sldId="257"/>
            <ac:spMk id="3" creationId="{00000000-0000-0000-0000-000000000000}"/>
          </ac:spMkLst>
        </pc:spChg>
      </pc:sldChg>
      <pc:sldChg chg="addSp delSp modSp mod">
        <pc:chgData name="SOURAV KUMAR" userId="687954897933c287" providerId="LiveId" clId="{65DD5CE4-F413-45C1-B1C4-35DBFD7FB98D}" dt="2025-07-13T14:00:17.032" v="893" actId="14100"/>
        <pc:sldMkLst>
          <pc:docMk/>
          <pc:sldMk cId="0" sldId="258"/>
        </pc:sldMkLst>
        <pc:spChg chg="mod">
          <ac:chgData name="SOURAV KUMAR" userId="687954897933c287" providerId="LiveId" clId="{65DD5CE4-F413-45C1-B1C4-35DBFD7FB98D}" dt="2025-07-13T13:44:09.982" v="663" actId="1076"/>
          <ac:spMkLst>
            <pc:docMk/>
            <pc:sldMk cId="0" sldId="258"/>
            <ac:spMk id="2" creationId="{00000000-0000-0000-0000-000000000000}"/>
          </ac:spMkLst>
        </pc:spChg>
        <pc:spChg chg="add del mod">
          <ac:chgData name="SOURAV KUMAR" userId="687954897933c287" providerId="LiveId" clId="{65DD5CE4-F413-45C1-B1C4-35DBFD7FB98D}" dt="2025-07-13T14:00:17.032" v="893" actId="14100"/>
          <ac:spMkLst>
            <pc:docMk/>
            <pc:sldMk cId="0" sldId="258"/>
            <ac:spMk id="3" creationId="{00000000-0000-0000-0000-000000000000}"/>
          </ac:spMkLst>
        </pc:spChg>
        <pc:spChg chg="add">
          <ac:chgData name="SOURAV KUMAR" userId="687954897933c287" providerId="LiveId" clId="{65DD5CE4-F413-45C1-B1C4-35DBFD7FB98D}" dt="2025-07-13T12:11:23.850" v="36"/>
          <ac:spMkLst>
            <pc:docMk/>
            <pc:sldMk cId="0" sldId="258"/>
            <ac:spMk id="4" creationId="{B6934645-6312-6300-B500-A91CF9A7766F}"/>
          </ac:spMkLst>
        </pc:spChg>
        <pc:spChg chg="add">
          <ac:chgData name="SOURAV KUMAR" userId="687954897933c287" providerId="LiveId" clId="{65DD5CE4-F413-45C1-B1C4-35DBFD7FB98D}" dt="2025-07-13T13:50:39.045" v="710"/>
          <ac:spMkLst>
            <pc:docMk/>
            <pc:sldMk cId="0" sldId="258"/>
            <ac:spMk id="4" creationId="{CE7209EB-4F83-CCD4-ADA6-8B4E6D377710}"/>
          </ac:spMkLst>
        </pc:spChg>
        <pc:spChg chg="add mod">
          <ac:chgData name="SOURAV KUMAR" userId="687954897933c287" providerId="LiveId" clId="{65DD5CE4-F413-45C1-B1C4-35DBFD7FB98D}" dt="2025-07-13T13:51:18.811" v="714"/>
          <ac:spMkLst>
            <pc:docMk/>
            <pc:sldMk cId="0" sldId="258"/>
            <ac:spMk id="5" creationId="{2A3B7676-F570-685D-618B-E8E0ADE9C88A}"/>
          </ac:spMkLst>
        </pc:spChg>
        <pc:spChg chg="add">
          <ac:chgData name="SOURAV KUMAR" userId="687954897933c287" providerId="LiveId" clId="{65DD5CE4-F413-45C1-B1C4-35DBFD7FB98D}" dt="2025-07-13T12:11:34.152" v="37"/>
          <ac:spMkLst>
            <pc:docMk/>
            <pc:sldMk cId="0" sldId="258"/>
            <ac:spMk id="5" creationId="{2BF87826-9ADE-68CB-6E74-A8ECC90A3F78}"/>
          </ac:spMkLst>
        </pc:spChg>
        <pc:spChg chg="add mod">
          <ac:chgData name="SOURAV KUMAR" userId="687954897933c287" providerId="LiveId" clId="{65DD5CE4-F413-45C1-B1C4-35DBFD7FB98D}" dt="2025-07-13T13:51:56.309" v="719" actId="20578"/>
          <ac:spMkLst>
            <pc:docMk/>
            <pc:sldMk cId="0" sldId="258"/>
            <ac:spMk id="6" creationId="{2871839D-046E-AB98-187B-F3A1207F4DCB}"/>
          </ac:spMkLst>
        </pc:spChg>
        <pc:spChg chg="add mod">
          <ac:chgData name="SOURAV KUMAR" userId="687954897933c287" providerId="LiveId" clId="{65DD5CE4-F413-45C1-B1C4-35DBFD7FB98D}" dt="2025-07-13T12:12:21.300" v="60"/>
          <ac:spMkLst>
            <pc:docMk/>
            <pc:sldMk cId="0" sldId="258"/>
            <ac:spMk id="6" creationId="{396190C6-7A29-2654-4864-A31076C3B6AA}"/>
          </ac:spMkLst>
        </pc:spChg>
        <pc:spChg chg="add mod">
          <ac:chgData name="SOURAV KUMAR" userId="687954897933c287" providerId="LiveId" clId="{65DD5CE4-F413-45C1-B1C4-35DBFD7FB98D}" dt="2025-07-13T13:52:21.056" v="725" actId="14100"/>
          <ac:spMkLst>
            <pc:docMk/>
            <pc:sldMk cId="0" sldId="258"/>
            <ac:spMk id="7" creationId="{DBB95EE9-0B94-F525-4505-8B7FA2A33259}"/>
          </ac:spMkLst>
        </pc:spChg>
        <pc:spChg chg="add del mod">
          <ac:chgData name="SOURAV KUMAR" userId="687954897933c287" providerId="LiveId" clId="{65DD5CE4-F413-45C1-B1C4-35DBFD7FB98D}" dt="2025-07-13T13:54:55.066" v="764"/>
          <ac:spMkLst>
            <pc:docMk/>
            <pc:sldMk cId="0" sldId="258"/>
            <ac:spMk id="8" creationId="{C69F2696-DF95-F685-BF96-3090BD93EA08}"/>
          </ac:spMkLst>
        </pc:spChg>
      </pc:sldChg>
      <pc:sldChg chg="addSp delSp modSp mod">
        <pc:chgData name="SOURAV KUMAR" userId="687954897933c287" providerId="LiveId" clId="{65DD5CE4-F413-45C1-B1C4-35DBFD7FB98D}" dt="2025-07-13T13:59:27.697" v="887" actId="14100"/>
        <pc:sldMkLst>
          <pc:docMk/>
          <pc:sldMk cId="0" sldId="259"/>
        </pc:sldMkLst>
        <pc:spChg chg="mod">
          <ac:chgData name="SOURAV KUMAR" userId="687954897933c287" providerId="LiveId" clId="{65DD5CE4-F413-45C1-B1C4-35DBFD7FB98D}" dt="2025-07-13T13:42:20.521" v="653"/>
          <ac:spMkLst>
            <pc:docMk/>
            <pc:sldMk cId="0" sldId="259"/>
            <ac:spMk id="2" creationId="{00000000-0000-0000-0000-000000000000}"/>
          </ac:spMkLst>
        </pc:spChg>
        <pc:spChg chg="add del mod">
          <ac:chgData name="SOURAV KUMAR" userId="687954897933c287" providerId="LiveId" clId="{65DD5CE4-F413-45C1-B1C4-35DBFD7FB98D}" dt="2025-07-13T13:59:27.697" v="887" actId="14100"/>
          <ac:spMkLst>
            <pc:docMk/>
            <pc:sldMk cId="0" sldId="259"/>
            <ac:spMk id="3" creationId="{00000000-0000-0000-0000-000000000000}"/>
          </ac:spMkLst>
        </pc:spChg>
        <pc:spChg chg="add mod">
          <ac:chgData name="SOURAV KUMAR" userId="687954897933c287" providerId="LiveId" clId="{65DD5CE4-F413-45C1-B1C4-35DBFD7FB98D}" dt="2025-07-13T12:13:22.443" v="65" actId="255"/>
          <ac:spMkLst>
            <pc:docMk/>
            <pc:sldMk cId="0" sldId="259"/>
            <ac:spMk id="4" creationId="{6AFF97B7-6653-237D-783A-7316DFCAE1BF}"/>
          </ac:spMkLst>
        </pc:spChg>
        <pc:spChg chg="add mod">
          <ac:chgData name="SOURAV KUMAR" userId="687954897933c287" providerId="LiveId" clId="{65DD5CE4-F413-45C1-B1C4-35DBFD7FB98D}" dt="2025-07-13T12:13:45.651" v="79"/>
          <ac:spMkLst>
            <pc:docMk/>
            <pc:sldMk cId="0" sldId="259"/>
            <ac:spMk id="5" creationId="{52232C55-B298-70B6-107C-9228BDE10116}"/>
          </ac:spMkLst>
        </pc:spChg>
      </pc:sldChg>
      <pc:sldChg chg="addSp delSp modSp del mod">
        <pc:chgData name="SOURAV KUMAR" userId="687954897933c287" providerId="LiveId" clId="{65DD5CE4-F413-45C1-B1C4-35DBFD7FB98D}" dt="2025-07-13T13:39:28.469" v="641" actId="47"/>
        <pc:sldMkLst>
          <pc:docMk/>
          <pc:sldMk cId="0" sldId="260"/>
        </pc:sldMkLst>
        <pc:spChg chg="mod">
          <ac:chgData name="SOURAV KUMAR" userId="687954897933c287" providerId="LiveId" clId="{65DD5CE4-F413-45C1-B1C4-35DBFD7FB98D}" dt="2025-07-13T13:09:27.766" v="343" actId="255"/>
          <ac:spMkLst>
            <pc:docMk/>
            <pc:sldMk cId="0" sldId="260"/>
            <ac:spMk id="2" creationId="{00000000-0000-0000-0000-000000000000}"/>
          </ac:spMkLst>
        </pc:spChg>
        <pc:spChg chg="mod">
          <ac:chgData name="SOURAV KUMAR" userId="687954897933c287" providerId="LiveId" clId="{65DD5CE4-F413-45C1-B1C4-35DBFD7FB98D}" dt="2025-07-13T13:38:46.787" v="640" actId="255"/>
          <ac:spMkLst>
            <pc:docMk/>
            <pc:sldMk cId="0" sldId="260"/>
            <ac:spMk id="3" creationId="{00000000-0000-0000-0000-000000000000}"/>
          </ac:spMkLst>
        </pc:spChg>
        <pc:picChg chg="add del mod">
          <ac:chgData name="SOURAV KUMAR" userId="687954897933c287" providerId="LiveId" clId="{65DD5CE4-F413-45C1-B1C4-35DBFD7FB98D}" dt="2025-07-13T12:14:25.711" v="82" actId="478"/>
          <ac:picMkLst>
            <pc:docMk/>
            <pc:sldMk cId="0" sldId="260"/>
            <ac:picMk id="5" creationId="{4E0F1CDB-C2CC-03BA-3921-58BF67FD1564}"/>
          </ac:picMkLst>
        </pc:picChg>
        <pc:picChg chg="add del mod">
          <ac:chgData name="SOURAV KUMAR" userId="687954897933c287" providerId="LiveId" clId="{65DD5CE4-F413-45C1-B1C4-35DBFD7FB98D}" dt="2025-07-13T11:48:18.258" v="30" actId="478"/>
          <ac:picMkLst>
            <pc:docMk/>
            <pc:sldMk cId="0" sldId="260"/>
            <ac:picMk id="7" creationId="{5E51B3BB-5B3C-655B-F195-BD980F24C6A6}"/>
          </ac:picMkLst>
        </pc:picChg>
      </pc:sldChg>
      <pc:sldChg chg="modSp mod">
        <pc:chgData name="SOURAV KUMAR" userId="687954897933c287" providerId="LiveId" clId="{65DD5CE4-F413-45C1-B1C4-35DBFD7FB98D}" dt="2025-07-13T13:42:20.521" v="653"/>
        <pc:sldMkLst>
          <pc:docMk/>
          <pc:sldMk cId="0" sldId="261"/>
        </pc:sldMkLst>
        <pc:spChg chg="mod">
          <ac:chgData name="SOURAV KUMAR" userId="687954897933c287" providerId="LiveId" clId="{65DD5CE4-F413-45C1-B1C4-35DBFD7FB98D}" dt="2025-07-13T13:42:20.521" v="653"/>
          <ac:spMkLst>
            <pc:docMk/>
            <pc:sldMk cId="0" sldId="261"/>
            <ac:spMk id="2" creationId="{00000000-0000-0000-0000-000000000000}"/>
          </ac:spMkLst>
        </pc:spChg>
        <pc:spChg chg="mod">
          <ac:chgData name="SOURAV KUMAR" userId="687954897933c287" providerId="LiveId" clId="{65DD5CE4-F413-45C1-B1C4-35DBFD7FB98D}" dt="2025-07-13T13:42:20.521" v="653"/>
          <ac:spMkLst>
            <pc:docMk/>
            <pc:sldMk cId="0" sldId="261"/>
            <ac:spMk id="3" creationId="{00000000-0000-0000-0000-000000000000}"/>
          </ac:spMkLst>
        </pc:spChg>
      </pc:sldChg>
      <pc:sldChg chg="addSp delSp modSp mod">
        <pc:chgData name="SOURAV KUMAR" userId="687954897933c287" providerId="LiveId" clId="{65DD5CE4-F413-45C1-B1C4-35DBFD7FB98D}" dt="2025-07-13T13:42:20.521" v="653"/>
        <pc:sldMkLst>
          <pc:docMk/>
          <pc:sldMk cId="0" sldId="262"/>
        </pc:sldMkLst>
        <pc:spChg chg="mod">
          <ac:chgData name="SOURAV KUMAR" userId="687954897933c287" providerId="LiveId" clId="{65DD5CE4-F413-45C1-B1C4-35DBFD7FB98D}" dt="2025-07-13T13:42:20.521" v="653"/>
          <ac:spMkLst>
            <pc:docMk/>
            <pc:sldMk cId="0" sldId="262"/>
            <ac:spMk id="2" creationId="{00000000-0000-0000-0000-000000000000}"/>
          </ac:spMkLst>
        </pc:spChg>
        <pc:spChg chg="add del mod">
          <ac:chgData name="SOURAV KUMAR" userId="687954897933c287" providerId="LiveId" clId="{65DD5CE4-F413-45C1-B1C4-35DBFD7FB98D}" dt="2025-07-13T13:42:20.521" v="653"/>
          <ac:spMkLst>
            <pc:docMk/>
            <pc:sldMk cId="0" sldId="262"/>
            <ac:spMk id="3" creationId="{00000000-0000-0000-0000-000000000000}"/>
          </ac:spMkLst>
        </pc:spChg>
        <pc:spChg chg="add mod">
          <ac:chgData name="SOURAV KUMAR" userId="687954897933c287" providerId="LiveId" clId="{65DD5CE4-F413-45C1-B1C4-35DBFD7FB98D}" dt="2025-07-13T12:17:10.762" v="103"/>
          <ac:spMkLst>
            <pc:docMk/>
            <pc:sldMk cId="0" sldId="262"/>
            <ac:spMk id="4" creationId="{54B07EF8-C949-DDB2-A455-A9EE3811A311}"/>
          </ac:spMkLst>
        </pc:spChg>
      </pc:sldChg>
      <pc:sldChg chg="modSp mod">
        <pc:chgData name="SOURAV KUMAR" userId="687954897933c287" providerId="LiveId" clId="{65DD5CE4-F413-45C1-B1C4-35DBFD7FB98D}" dt="2025-07-13T13:42:20.521" v="653"/>
        <pc:sldMkLst>
          <pc:docMk/>
          <pc:sldMk cId="0" sldId="263"/>
        </pc:sldMkLst>
        <pc:spChg chg="mod">
          <ac:chgData name="SOURAV KUMAR" userId="687954897933c287" providerId="LiveId" clId="{65DD5CE4-F413-45C1-B1C4-35DBFD7FB98D}" dt="2025-07-13T13:42:20.521" v="653"/>
          <ac:spMkLst>
            <pc:docMk/>
            <pc:sldMk cId="0" sldId="263"/>
            <ac:spMk id="2" creationId="{00000000-0000-0000-0000-000000000000}"/>
          </ac:spMkLst>
        </pc:spChg>
        <pc:spChg chg="mod">
          <ac:chgData name="SOURAV KUMAR" userId="687954897933c287" providerId="LiveId" clId="{65DD5CE4-F413-45C1-B1C4-35DBFD7FB98D}" dt="2025-07-13T13:42:20.521" v="653"/>
          <ac:spMkLst>
            <pc:docMk/>
            <pc:sldMk cId="0" sldId="263"/>
            <ac:spMk id="3" creationId="{00000000-0000-0000-0000-000000000000}"/>
          </ac:spMkLst>
        </pc:spChg>
      </pc:sldChg>
      <pc:sldChg chg="modSp mod">
        <pc:chgData name="SOURAV KUMAR" userId="687954897933c287" providerId="LiveId" clId="{65DD5CE4-F413-45C1-B1C4-35DBFD7FB98D}" dt="2025-07-13T13:42:20.521" v="653"/>
        <pc:sldMkLst>
          <pc:docMk/>
          <pc:sldMk cId="0" sldId="264"/>
        </pc:sldMkLst>
        <pc:spChg chg="mod">
          <ac:chgData name="SOURAV KUMAR" userId="687954897933c287" providerId="LiveId" clId="{65DD5CE4-F413-45C1-B1C4-35DBFD7FB98D}" dt="2025-07-13T13:42:20.521" v="653"/>
          <ac:spMkLst>
            <pc:docMk/>
            <pc:sldMk cId="0" sldId="264"/>
            <ac:spMk id="2" creationId="{00000000-0000-0000-0000-000000000000}"/>
          </ac:spMkLst>
        </pc:spChg>
        <pc:spChg chg="mod">
          <ac:chgData name="SOURAV KUMAR" userId="687954897933c287" providerId="LiveId" clId="{65DD5CE4-F413-45C1-B1C4-35DBFD7FB98D}" dt="2025-07-13T13:42:20.521" v="653"/>
          <ac:spMkLst>
            <pc:docMk/>
            <pc:sldMk cId="0" sldId="264"/>
            <ac:spMk id="3" creationId="{00000000-0000-0000-0000-000000000000}"/>
          </ac:spMkLst>
        </pc:spChg>
      </pc:sldChg>
      <pc:sldChg chg="addSp delSp modSp mod">
        <pc:chgData name="SOURAV KUMAR" userId="687954897933c287" providerId="LiveId" clId="{65DD5CE4-F413-45C1-B1C4-35DBFD7FB98D}" dt="2025-07-13T13:42:20.521" v="653"/>
        <pc:sldMkLst>
          <pc:docMk/>
          <pc:sldMk cId="0" sldId="265"/>
        </pc:sldMkLst>
        <pc:spChg chg="mod">
          <ac:chgData name="SOURAV KUMAR" userId="687954897933c287" providerId="LiveId" clId="{65DD5CE4-F413-45C1-B1C4-35DBFD7FB98D}" dt="2025-07-13T13:42:20.521" v="653"/>
          <ac:spMkLst>
            <pc:docMk/>
            <pc:sldMk cId="0" sldId="265"/>
            <ac:spMk id="2" creationId="{00000000-0000-0000-0000-000000000000}"/>
          </ac:spMkLst>
        </pc:spChg>
        <pc:spChg chg="add del mod">
          <ac:chgData name="SOURAV KUMAR" userId="687954897933c287" providerId="LiveId" clId="{65DD5CE4-F413-45C1-B1C4-35DBFD7FB98D}" dt="2025-07-13T13:42:20.521" v="653"/>
          <ac:spMkLst>
            <pc:docMk/>
            <pc:sldMk cId="0" sldId="265"/>
            <ac:spMk id="3" creationId="{00000000-0000-0000-0000-000000000000}"/>
          </ac:spMkLst>
        </pc:spChg>
        <pc:spChg chg="add mod">
          <ac:chgData name="SOURAV KUMAR" userId="687954897933c287" providerId="LiveId" clId="{65DD5CE4-F413-45C1-B1C4-35DBFD7FB98D}" dt="2025-07-13T12:19:11.575" v="119"/>
          <ac:spMkLst>
            <pc:docMk/>
            <pc:sldMk cId="0" sldId="265"/>
            <ac:spMk id="4" creationId="{F8DA60BF-FEE4-DE42-7E6A-A75CC55B68ED}"/>
          </ac:spMkLst>
        </pc:spChg>
      </pc:sldChg>
      <pc:sldChg chg="modSp mod">
        <pc:chgData name="SOURAV KUMAR" userId="687954897933c287" providerId="LiveId" clId="{65DD5CE4-F413-45C1-B1C4-35DBFD7FB98D}" dt="2025-07-13T13:42:20.776" v="657" actId="27636"/>
        <pc:sldMkLst>
          <pc:docMk/>
          <pc:sldMk cId="0" sldId="266"/>
        </pc:sldMkLst>
        <pc:spChg chg="mod">
          <ac:chgData name="SOURAV KUMAR" userId="687954897933c287" providerId="LiveId" clId="{65DD5CE4-F413-45C1-B1C4-35DBFD7FB98D}" dt="2025-07-13T13:42:20.521" v="653"/>
          <ac:spMkLst>
            <pc:docMk/>
            <pc:sldMk cId="0" sldId="266"/>
            <ac:spMk id="2" creationId="{00000000-0000-0000-0000-000000000000}"/>
          </ac:spMkLst>
        </pc:spChg>
        <pc:spChg chg="mod">
          <ac:chgData name="SOURAV KUMAR" userId="687954897933c287" providerId="LiveId" clId="{65DD5CE4-F413-45C1-B1C4-35DBFD7FB98D}" dt="2025-07-13T13:42:20.776" v="657" actId="27636"/>
          <ac:spMkLst>
            <pc:docMk/>
            <pc:sldMk cId="0" sldId="266"/>
            <ac:spMk id="3" creationId="{00000000-0000-0000-0000-000000000000}"/>
          </ac:spMkLst>
        </pc:spChg>
      </pc:sldChg>
      <pc:sldChg chg="modSp mod">
        <pc:chgData name="SOURAV KUMAR" userId="687954897933c287" providerId="LiveId" clId="{65DD5CE4-F413-45C1-B1C4-35DBFD7FB98D}" dt="2025-07-13T13:42:20.783" v="658" actId="27636"/>
        <pc:sldMkLst>
          <pc:docMk/>
          <pc:sldMk cId="0" sldId="267"/>
        </pc:sldMkLst>
        <pc:spChg chg="mod">
          <ac:chgData name="SOURAV KUMAR" userId="687954897933c287" providerId="LiveId" clId="{65DD5CE4-F413-45C1-B1C4-35DBFD7FB98D}" dt="2025-07-13T13:42:20.521" v="653"/>
          <ac:spMkLst>
            <pc:docMk/>
            <pc:sldMk cId="0" sldId="267"/>
            <ac:spMk id="2" creationId="{00000000-0000-0000-0000-000000000000}"/>
          </ac:spMkLst>
        </pc:spChg>
        <pc:spChg chg="mod">
          <ac:chgData name="SOURAV KUMAR" userId="687954897933c287" providerId="LiveId" clId="{65DD5CE4-F413-45C1-B1C4-35DBFD7FB98D}" dt="2025-07-13T13:42:20.783" v="658" actId="27636"/>
          <ac:spMkLst>
            <pc:docMk/>
            <pc:sldMk cId="0" sldId="267"/>
            <ac:spMk id="3" creationId="{00000000-0000-0000-0000-000000000000}"/>
          </ac:spMkLst>
        </pc:spChg>
      </pc:sldChg>
      <pc:sldChg chg="addSp delSp modSp mod">
        <pc:chgData name="SOURAV KUMAR" userId="687954897933c287" providerId="LiveId" clId="{65DD5CE4-F413-45C1-B1C4-35DBFD7FB98D}" dt="2025-07-13T13:42:20.798" v="659" actId="27636"/>
        <pc:sldMkLst>
          <pc:docMk/>
          <pc:sldMk cId="0" sldId="268"/>
        </pc:sldMkLst>
        <pc:spChg chg="mod">
          <ac:chgData name="SOURAV KUMAR" userId="687954897933c287" providerId="LiveId" clId="{65DD5CE4-F413-45C1-B1C4-35DBFD7FB98D}" dt="2025-07-13T13:42:20.521" v="653"/>
          <ac:spMkLst>
            <pc:docMk/>
            <pc:sldMk cId="0" sldId="268"/>
            <ac:spMk id="2" creationId="{00000000-0000-0000-0000-000000000000}"/>
          </ac:spMkLst>
        </pc:spChg>
        <pc:spChg chg="add del mod">
          <ac:chgData name="SOURAV KUMAR" userId="687954897933c287" providerId="LiveId" clId="{65DD5CE4-F413-45C1-B1C4-35DBFD7FB98D}" dt="2025-07-13T13:42:20.798" v="659" actId="27636"/>
          <ac:spMkLst>
            <pc:docMk/>
            <pc:sldMk cId="0" sldId="268"/>
            <ac:spMk id="3" creationId="{00000000-0000-0000-0000-000000000000}"/>
          </ac:spMkLst>
        </pc:spChg>
        <pc:spChg chg="add mod">
          <ac:chgData name="SOURAV KUMAR" userId="687954897933c287" providerId="LiveId" clId="{65DD5CE4-F413-45C1-B1C4-35DBFD7FB98D}" dt="2025-07-13T12:21:12.198" v="137"/>
          <ac:spMkLst>
            <pc:docMk/>
            <pc:sldMk cId="0" sldId="268"/>
            <ac:spMk id="4" creationId="{76CED661-61D8-AB0A-8B25-E3980635D177}"/>
          </ac:spMkLst>
        </pc:spChg>
      </pc:sldChg>
      <pc:sldChg chg="modSp mod">
        <pc:chgData name="SOURAV KUMAR" userId="687954897933c287" providerId="LiveId" clId="{65DD5CE4-F413-45C1-B1C4-35DBFD7FB98D}" dt="2025-07-13T13:42:20.655" v="654" actId="27636"/>
        <pc:sldMkLst>
          <pc:docMk/>
          <pc:sldMk cId="0" sldId="269"/>
        </pc:sldMkLst>
        <pc:spChg chg="mod">
          <ac:chgData name="SOURAV KUMAR" userId="687954897933c287" providerId="LiveId" clId="{65DD5CE4-F413-45C1-B1C4-35DBFD7FB98D}" dt="2025-07-13T13:42:20.521" v="653"/>
          <ac:spMkLst>
            <pc:docMk/>
            <pc:sldMk cId="0" sldId="269"/>
            <ac:spMk id="2" creationId="{00000000-0000-0000-0000-000000000000}"/>
          </ac:spMkLst>
        </pc:spChg>
        <pc:spChg chg="mod">
          <ac:chgData name="SOURAV KUMAR" userId="687954897933c287" providerId="LiveId" clId="{65DD5CE4-F413-45C1-B1C4-35DBFD7FB98D}" dt="2025-07-13T13:42:20.655" v="654" actId="27636"/>
          <ac:spMkLst>
            <pc:docMk/>
            <pc:sldMk cId="0" sldId="269"/>
            <ac:spMk id="3" creationId="{00000000-0000-0000-0000-000000000000}"/>
          </ac:spMkLst>
        </pc:spChg>
      </pc:sldChg>
      <pc:sldChg chg="addSp delSp modSp new mod">
        <pc:chgData name="SOURAV KUMAR" userId="687954897933c287" providerId="LiveId" clId="{65DD5CE4-F413-45C1-B1C4-35DBFD7FB98D}" dt="2025-07-13T13:42:20.740" v="655" actId="27636"/>
        <pc:sldMkLst>
          <pc:docMk/>
          <pc:sldMk cId="3722613726" sldId="270"/>
        </pc:sldMkLst>
        <pc:spChg chg="mod">
          <ac:chgData name="SOURAV KUMAR" userId="687954897933c287" providerId="LiveId" clId="{65DD5CE4-F413-45C1-B1C4-35DBFD7FB98D}" dt="2025-07-13T13:42:20.521" v="653"/>
          <ac:spMkLst>
            <pc:docMk/>
            <pc:sldMk cId="3722613726" sldId="270"/>
            <ac:spMk id="2" creationId="{405AAF18-74C4-2BC0-4442-600585144DDF}"/>
          </ac:spMkLst>
        </pc:spChg>
        <pc:spChg chg="add del mod">
          <ac:chgData name="SOURAV KUMAR" userId="687954897933c287" providerId="LiveId" clId="{65DD5CE4-F413-45C1-B1C4-35DBFD7FB98D}" dt="2025-07-13T13:42:20.740" v="655" actId="27636"/>
          <ac:spMkLst>
            <pc:docMk/>
            <pc:sldMk cId="3722613726" sldId="270"/>
            <ac:spMk id="3" creationId="{91151737-746C-8D74-F126-E309C6DC7B96}"/>
          </ac:spMkLst>
        </pc:spChg>
        <pc:spChg chg="add mod">
          <ac:chgData name="SOURAV KUMAR" userId="687954897933c287" providerId="LiveId" clId="{65DD5CE4-F413-45C1-B1C4-35DBFD7FB98D}" dt="2025-07-13T12:22:34.229" v="149"/>
          <ac:spMkLst>
            <pc:docMk/>
            <pc:sldMk cId="3722613726" sldId="270"/>
            <ac:spMk id="4" creationId="{9050AEED-7123-7A04-1F6F-FE01775AB7C2}"/>
          </ac:spMkLst>
        </pc:spChg>
      </pc:sldChg>
      <pc:sldChg chg="modSp new mod">
        <pc:chgData name="SOURAV KUMAR" userId="687954897933c287" providerId="LiveId" clId="{65DD5CE4-F413-45C1-B1C4-35DBFD7FB98D}" dt="2025-07-13T13:42:20.521" v="653"/>
        <pc:sldMkLst>
          <pc:docMk/>
          <pc:sldMk cId="3922438341" sldId="271"/>
        </pc:sldMkLst>
        <pc:spChg chg="mod">
          <ac:chgData name="SOURAV KUMAR" userId="687954897933c287" providerId="LiveId" clId="{65DD5CE4-F413-45C1-B1C4-35DBFD7FB98D}" dt="2025-07-13T13:42:20.521" v="653"/>
          <ac:spMkLst>
            <pc:docMk/>
            <pc:sldMk cId="3922438341" sldId="271"/>
            <ac:spMk id="2" creationId="{AC90ADA9-BDA8-8E2A-2B9D-25CA9937B190}"/>
          </ac:spMkLst>
        </pc:spChg>
        <pc:spChg chg="mod">
          <ac:chgData name="SOURAV KUMAR" userId="687954897933c287" providerId="LiveId" clId="{65DD5CE4-F413-45C1-B1C4-35DBFD7FB98D}" dt="2025-07-13T13:42:20.521" v="653"/>
          <ac:spMkLst>
            <pc:docMk/>
            <pc:sldMk cId="3922438341" sldId="271"/>
            <ac:spMk id="3" creationId="{7E7FF6C6-D37A-493A-594E-D98FFAA4EEE6}"/>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1348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419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0254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6499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1417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3573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621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047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1101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0357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411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3640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9782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72347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3594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19591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1691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7/13/2025</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9997025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1934" y="1604604"/>
            <a:ext cx="5308866" cy="1929715"/>
          </a:xfrm>
        </p:spPr>
        <p:txBody>
          <a:bodyPr>
            <a:normAutofit fontScale="90000"/>
          </a:bodyPr>
          <a:lstStyle/>
          <a:p>
            <a:r>
              <a:rPr lang="en-IN" dirty="0"/>
              <a:t>Patient Encounter Cost And</a:t>
            </a:r>
            <a:r>
              <a:rPr dirty="0"/>
              <a:t> Risk Analysis</a:t>
            </a:r>
            <a:r>
              <a:rPr lang="en-IN" dirty="0"/>
              <a:t> In Healthcare Systems</a:t>
            </a:r>
            <a:endParaRPr dirty="0"/>
          </a:p>
        </p:txBody>
      </p:sp>
      <p:sp>
        <p:nvSpPr>
          <p:cNvPr id="3" name="Subtitle 2"/>
          <p:cNvSpPr>
            <a:spLocks noGrp="1"/>
          </p:cNvSpPr>
          <p:nvPr>
            <p:ph type="subTitle" idx="1"/>
          </p:nvPr>
        </p:nvSpPr>
        <p:spPr/>
        <p:txBody>
          <a:bodyPr>
            <a:normAutofit/>
          </a:bodyPr>
          <a:lstStyle/>
          <a:p>
            <a:r>
              <a:rPr lang="en-IN" dirty="0"/>
              <a:t>Business Domain</a:t>
            </a:r>
            <a:r>
              <a:rPr dirty="0"/>
              <a:t> Project using SQL &amp; Power BI</a:t>
            </a:r>
          </a:p>
          <a:p>
            <a:r>
              <a:rPr dirty="0"/>
              <a:t>Presented by: </a:t>
            </a:r>
            <a:r>
              <a:rPr lang="en-IN" dirty="0"/>
              <a:t>Sourav Kumar</a:t>
            </a:r>
            <a:endParaRPr dirty="0"/>
          </a:p>
          <a:p>
            <a:r>
              <a:rPr dirty="0"/>
              <a:t>Date: </a:t>
            </a:r>
            <a:r>
              <a:rPr lang="en-IN" dirty="0"/>
              <a:t>12</a:t>
            </a:r>
            <a:r>
              <a:rPr lang="en-IN" baseline="30000" dirty="0"/>
              <a:t>th</a:t>
            </a:r>
            <a:r>
              <a:rPr lang="en-IN" dirty="0"/>
              <a:t> </a:t>
            </a:r>
            <a:r>
              <a:rPr dirty="0"/>
              <a:t>July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1. </a:t>
            </a:r>
            <a:r>
              <a:rPr sz="2400" b="1" dirty="0">
                <a:latin typeface="Times New Roman" panose="02020603050405020304" pitchFamily="18" charset="0"/>
                <a:cs typeface="Times New Roman" panose="02020603050405020304" pitchFamily="18" charset="0"/>
              </a:rPr>
              <a:t>Project Overview</a:t>
            </a:r>
          </a:p>
        </p:txBody>
      </p:sp>
      <p:sp>
        <p:nvSpPr>
          <p:cNvPr id="3" name="Content Placeholder 2"/>
          <p:cNvSpPr>
            <a:spLocks noGrp="1"/>
          </p:cNvSpPr>
          <p:nvPr>
            <p:ph idx="1"/>
          </p:nvPr>
        </p:nvSpPr>
        <p:spPr>
          <a:xfrm>
            <a:off x="1176865" y="2029968"/>
            <a:ext cx="6798736" cy="3840481"/>
          </a:xfrm>
        </p:spPr>
        <p:txBody>
          <a:bodyPr>
            <a:normAutofit/>
          </a:bodyPr>
          <a:lstStyle/>
          <a:p>
            <a:pPr marL="0" indent="0">
              <a:buNone/>
            </a:pPr>
            <a:endParaRPr dirty="0"/>
          </a:p>
          <a:p>
            <a:pPr marL="0" indent="0">
              <a:buNone/>
            </a:pPr>
            <a:r>
              <a:rPr lang="en-US" sz="1600" b="1" dirty="0">
                <a:latin typeface="Times New Roman" panose="02020603050405020304" pitchFamily="18" charset="0"/>
                <a:cs typeface="Times New Roman" panose="02020603050405020304" pitchFamily="18" charset="0"/>
              </a:rPr>
              <a:t>      Introduction</a:t>
            </a:r>
          </a:p>
          <a:p>
            <a:r>
              <a:rPr lang="en-US" sz="1600" b="1" dirty="0">
                <a:latin typeface="Times New Roman" panose="02020603050405020304" pitchFamily="18" charset="0"/>
                <a:cs typeface="Times New Roman" panose="02020603050405020304" pitchFamily="18" charset="0"/>
              </a:rPr>
              <a:t>Project Goal:</a:t>
            </a:r>
            <a:r>
              <a:rPr lang="en-US" sz="1600" dirty="0">
                <a:latin typeface="Times New Roman" panose="02020603050405020304" pitchFamily="18" charset="0"/>
                <a:cs typeface="Times New Roman" panose="02020603050405020304" pitchFamily="18" charset="0"/>
              </a:rPr>
              <a:t> To conduct a comprehensive analysis of patient encounters, procedure costs, and payer coverage to uncover patterns of high-cost healthcare utilization and potential financial risks.</a:t>
            </a:r>
          </a:p>
          <a:p>
            <a:r>
              <a:rPr lang="en-US" sz="1600" b="1" dirty="0">
                <a:latin typeface="Times New Roman" panose="02020603050405020304" pitchFamily="18" charset="0"/>
                <a:cs typeface="Times New Roman" panose="02020603050405020304" pitchFamily="18" charset="0"/>
              </a:rPr>
              <a:t>Objective:</a:t>
            </a:r>
            <a:r>
              <a:rPr lang="en-US" sz="1600" dirty="0">
                <a:latin typeface="Times New Roman" panose="02020603050405020304" pitchFamily="18" charset="0"/>
                <a:cs typeface="Times New Roman" panose="02020603050405020304" pitchFamily="18" charset="0"/>
              </a:rPr>
              <a:t> To provide actionable insights for healthcare providers to support informed decision-making in resource allocation, patient care management, and financial planning, leveraging SQL-based data analysis.</a:t>
            </a:r>
          </a:p>
          <a:p>
            <a:r>
              <a:rPr lang="en-US" sz="1600" b="1" dirty="0">
                <a:latin typeface="Times New Roman" panose="02020603050405020304" pitchFamily="18" charset="0"/>
                <a:cs typeface="Times New Roman" panose="02020603050405020304" pitchFamily="18" charset="0"/>
              </a:rPr>
              <a:t>Methodology:</a:t>
            </a:r>
            <a:r>
              <a:rPr lang="en-US" sz="1600" dirty="0">
                <a:latin typeface="Times New Roman" panose="02020603050405020304" pitchFamily="18" charset="0"/>
                <a:cs typeface="Times New Roman" panose="02020603050405020304" pitchFamily="18" charset="0"/>
              </a:rPr>
              <a:t> Data extracted using SQL and visualized through Power BI/Tableau, focusing on key metrics across various aspects of patient encounters.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633" y="621792"/>
            <a:ext cx="6798734" cy="1303867"/>
          </a:xfrm>
        </p:spPr>
        <p:txBody>
          <a:bodyPr>
            <a:normAutofit/>
          </a:bodyPr>
          <a:lstStyle/>
          <a:p>
            <a:r>
              <a:rPr lang="en-IN" sz="2400" b="1" dirty="0">
                <a:latin typeface="Times New Roman" panose="02020603050405020304" pitchFamily="18" charset="0"/>
                <a:cs typeface="Times New Roman" panose="02020603050405020304" pitchFamily="18" charset="0"/>
              </a:rPr>
              <a:t>2. </a:t>
            </a:r>
            <a:r>
              <a:rPr sz="2400" b="1" dirty="0">
                <a:latin typeface="Times New Roman" panose="02020603050405020304" pitchFamily="18" charset="0"/>
                <a:cs typeface="Times New Roman" panose="02020603050405020304" pitchFamily="18" charset="0"/>
              </a:rPr>
              <a:t>Data Model &amp; Preprocessing</a:t>
            </a:r>
          </a:p>
        </p:txBody>
      </p:sp>
      <p:sp>
        <p:nvSpPr>
          <p:cNvPr id="3" name="Content Placeholder 2"/>
          <p:cNvSpPr>
            <a:spLocks noGrp="1"/>
          </p:cNvSpPr>
          <p:nvPr>
            <p:ph idx="1"/>
          </p:nvPr>
        </p:nvSpPr>
        <p:spPr>
          <a:xfrm>
            <a:off x="1172633" y="2212848"/>
            <a:ext cx="6798736" cy="3721608"/>
          </a:xfrm>
        </p:spPr>
        <p:txBody>
          <a:bodyPr>
            <a:noAutofit/>
          </a:bodyPr>
          <a:lstStyle/>
          <a:p>
            <a:endParaRPr lang="en-US" sz="12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Dataset Scope:</a:t>
            </a:r>
            <a:r>
              <a:rPr kumimoji="0" lang="en-US" alt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This analysis utilizes data from five key healthcare tables: Encounters, Organization, Patients, Payers, and Procedures.</a:t>
            </a:r>
          </a:p>
          <a:p>
            <a:pPr marL="0" marR="0" lvl="0" indent="0" algn="l" defTabSz="914400" rtl="0" eaLnBrk="0" fontAlgn="base" latinLnBrk="0" hangingPunct="0">
              <a:lnSpc>
                <a:spcPct val="100000"/>
              </a:lnSpc>
              <a:spcBef>
                <a:spcPct val="0"/>
              </a:spcBef>
              <a:spcAft>
                <a:spcPct val="0"/>
              </a:spcAft>
              <a:buClrTx/>
              <a:buSzTx/>
              <a:buFontTx/>
              <a:buChar char="•"/>
              <a:tabLst/>
              <a:defRPr/>
            </a:pPr>
            <a:endParaRPr kumimoji="0" lang="en-US" alt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Key Tables &amp; Fields:</a:t>
            </a:r>
            <a:endParaRPr lang="en-US" altLang="en-US" sz="1600" dirty="0">
              <a:solidFill>
                <a:prstClr val="black"/>
              </a:solidFill>
              <a:latin typeface="Times New Roman" panose="02020603050405020304" pitchFamily="18" charset="0"/>
              <a:cs typeface="Times New Roman" panose="02020603050405020304" pitchFamily="18" charset="0"/>
            </a:endParaRPr>
          </a:p>
          <a:p>
            <a:pPr marL="457200" lvl="1" indent="0" defTabSz="914400" eaLnBrk="0" fontAlgn="base" hangingPunct="0">
              <a:spcBef>
                <a:spcPct val="0"/>
              </a:spcBef>
              <a:spcAft>
                <a:spcPct val="0"/>
              </a:spcAft>
              <a:buClrTx/>
              <a:buSzTx/>
              <a:buFontTx/>
              <a:buChar char="•"/>
              <a:defRPr/>
            </a:pPr>
            <a:r>
              <a:rPr kumimoji="0" lang="en-US" altLang="en-US" sz="1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Encounters:</a:t>
            </a: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Patient encounter details, costs, payer coverage, and reason codes.</a:t>
            </a:r>
          </a:p>
          <a:p>
            <a:pPr marL="457200" lvl="1" indent="0" defTabSz="914400" eaLnBrk="0" fontAlgn="base" hangingPunct="0">
              <a:spcBef>
                <a:spcPct val="0"/>
              </a:spcBef>
              <a:spcAft>
                <a:spcPct val="0"/>
              </a:spcAft>
              <a:buClrTx/>
              <a:buSzTx/>
              <a:buFontTx/>
              <a:buChar char="•"/>
              <a:defRPr/>
            </a:pPr>
            <a:r>
              <a:rPr kumimoji="0" lang="en-US" altLang="en-US" sz="1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Organizations:</a:t>
            </a: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Hospital information including name and geographical data.</a:t>
            </a:r>
          </a:p>
          <a:p>
            <a:pPr marL="457200" lvl="1" indent="0" defTabSz="914400" eaLnBrk="0" fontAlgn="base" hangingPunct="0">
              <a:spcBef>
                <a:spcPct val="0"/>
              </a:spcBef>
              <a:spcAft>
                <a:spcPct val="0"/>
              </a:spcAft>
              <a:buClrTx/>
              <a:buSzTx/>
              <a:buFontTx/>
              <a:buChar char="•"/>
              <a:defRPr/>
            </a:pPr>
            <a:r>
              <a:rPr kumimoji="0" lang="en-US" altLang="en-US" sz="1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Patients:</a:t>
            </a: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Patient demographics (birth date, gender, address, etc.).</a:t>
            </a:r>
          </a:p>
          <a:p>
            <a:pPr marL="457200" lvl="1" indent="0" defTabSz="914400" eaLnBrk="0" fontAlgn="base" hangingPunct="0">
              <a:spcBef>
                <a:spcPct val="0"/>
              </a:spcBef>
              <a:spcAft>
                <a:spcPct val="0"/>
              </a:spcAft>
              <a:buClrTx/>
              <a:buSzTx/>
              <a:buFontTx/>
              <a:buChar char="•"/>
              <a:defRPr/>
            </a:pPr>
            <a:r>
              <a:rPr kumimoji="0" lang="en-US" altLang="en-US" sz="1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Payers:</a:t>
            </a: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Insurance payer names and contact details.</a:t>
            </a:r>
          </a:p>
          <a:p>
            <a:pPr marL="457200" lvl="1" indent="0" defTabSz="914400" eaLnBrk="0" fontAlgn="base" hangingPunct="0">
              <a:spcBef>
                <a:spcPct val="0"/>
              </a:spcBef>
              <a:spcAft>
                <a:spcPct val="0"/>
              </a:spcAft>
              <a:buClrTx/>
              <a:buSzTx/>
              <a:buFontTx/>
              <a:buChar char="•"/>
              <a:defRPr/>
            </a:pPr>
            <a:r>
              <a:rPr kumimoji="0" lang="en-US" altLang="en-US" sz="1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Procedures:</a:t>
            </a: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Procedure costs, dates, and associated reasons.</a:t>
            </a: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pPr lvl="1"/>
            <a:endParaRPr lang="en-US" sz="1200" b="1" dirty="0">
              <a:latin typeface="Times New Roman" panose="02020603050405020304" pitchFamily="18" charset="0"/>
              <a:cs typeface="Times New Roman" panose="02020603050405020304" pitchFamily="18" charset="0"/>
            </a:endParaRPr>
          </a:p>
          <a:p>
            <a:pPr lvl="1"/>
            <a:endParaRPr lang="en-US"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3. Financial Risk by Encounter Outcome</a:t>
            </a:r>
            <a:endParaRPr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Analysis: </a:t>
            </a:r>
            <a:r>
              <a:rPr lang="en-US" sz="1600" dirty="0">
                <a:latin typeface="Times New Roman" panose="02020603050405020304" pitchFamily="18" charset="0"/>
                <a:cs typeface="Times New Roman" panose="02020603050405020304" pitchFamily="18" charset="0"/>
              </a:rPr>
              <a:t>Evaluation of total cost, average cost, and risk score associated with different encounter outcomes.</a:t>
            </a:r>
          </a:p>
          <a:p>
            <a:r>
              <a:rPr lang="en-US" sz="1600" b="1" dirty="0">
                <a:latin typeface="Times New Roman" panose="02020603050405020304" pitchFamily="18" charset="0"/>
                <a:cs typeface="Times New Roman" panose="02020603050405020304" pitchFamily="18" charset="0"/>
              </a:rPr>
              <a:t>Key Findings (from 'Evaluating Financial Risk by Encounter Outcome.csv’):</a:t>
            </a:r>
          </a:p>
          <a:p>
            <a:pPr lvl="1"/>
            <a:r>
              <a:rPr lang="en-US" sz="1400" b="1" dirty="0">
                <a:latin typeface="Times New Roman" panose="02020603050405020304" pitchFamily="18" charset="0"/>
                <a:cs typeface="Times New Roman" panose="02020603050405020304" pitchFamily="18" charset="0"/>
              </a:rPr>
              <a:t>NULL Outcome: </a:t>
            </a:r>
            <a:r>
              <a:rPr lang="en-US" sz="1400" dirty="0">
                <a:latin typeface="Times New Roman" panose="02020603050405020304" pitchFamily="18" charset="0"/>
                <a:cs typeface="Times New Roman" panose="02020603050405020304" pitchFamily="18" charset="0"/>
              </a:rPr>
              <a:t>Highest total cost and average cost, indicating a significant area of financial risk. This category needs immediate attention for proper classification and cost management.</a:t>
            </a:r>
          </a:p>
          <a:p>
            <a:pPr lvl="1"/>
            <a:r>
              <a:rPr lang="en-US" sz="1400" b="1" dirty="0">
                <a:latin typeface="Times New Roman" panose="02020603050405020304" pitchFamily="18" charset="0"/>
                <a:cs typeface="Times New Roman" panose="02020603050405020304" pitchFamily="18" charset="0"/>
              </a:rPr>
              <a:t>Discharged to Home: </a:t>
            </a:r>
            <a:r>
              <a:rPr lang="en-US" sz="1400" dirty="0">
                <a:latin typeface="Times New Roman" panose="02020603050405020304" pitchFamily="18" charset="0"/>
                <a:cs typeface="Times New Roman" panose="02020603050405020304" pitchFamily="18" charset="0"/>
              </a:rPr>
              <a:t>While having a high total cost (expected due to volume), its average cost and risk score might be lower, indicating routine care.</a:t>
            </a:r>
          </a:p>
          <a:p>
            <a:pPr lvl="1"/>
            <a:r>
              <a:rPr lang="en-US" sz="1400" b="1" dirty="0">
                <a:latin typeface="Times New Roman" panose="02020603050405020304" pitchFamily="18" charset="0"/>
                <a:cs typeface="Times New Roman" panose="02020603050405020304" pitchFamily="18" charset="0"/>
              </a:rPr>
              <a:t>Expired: </a:t>
            </a:r>
            <a:r>
              <a:rPr lang="en-US" sz="1400" dirty="0">
                <a:latin typeface="Times New Roman" panose="02020603050405020304" pitchFamily="18" charset="0"/>
                <a:cs typeface="Times New Roman" panose="02020603050405020304" pitchFamily="18" charset="0"/>
              </a:rPr>
              <a:t>High average cost and risk score, as anticipated for critical outcomes.</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4. Patient Encounter Duration Analysis</a:t>
            </a: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Examination of average encounter durations across different encounter classes.</a:t>
            </a:r>
          </a:p>
          <a:p>
            <a:r>
              <a:rPr lang="en-US" sz="1600" b="1" dirty="0">
                <a:latin typeface="Times New Roman" panose="02020603050405020304" pitchFamily="18" charset="0"/>
                <a:cs typeface="Times New Roman" panose="02020603050405020304" pitchFamily="18" charset="0"/>
              </a:rPr>
              <a:t>Key Findings (from 'Analyzing Patient Encounter Duration for Different Classes.csv'):</a:t>
            </a:r>
            <a:endParaRPr lang="en-US" sz="1600" dirty="0">
              <a:latin typeface="Times New Roman" panose="02020603050405020304" pitchFamily="18" charset="0"/>
              <a:cs typeface="Times New Roman" panose="02020603050405020304" pitchFamily="18" charset="0"/>
            </a:endParaRPr>
          </a:p>
          <a:p>
            <a:pPr lvl="1"/>
            <a:r>
              <a:rPr lang="en-US" sz="1400" b="1" dirty="0">
                <a:latin typeface="Times New Roman" panose="02020603050405020304" pitchFamily="18" charset="0"/>
                <a:cs typeface="Times New Roman" panose="02020603050405020304" pitchFamily="18" charset="0"/>
              </a:rPr>
              <a:t>Inpatient Encounters:</a:t>
            </a:r>
            <a:r>
              <a:rPr lang="en-US" sz="1400" dirty="0">
                <a:latin typeface="Times New Roman" panose="02020603050405020304" pitchFamily="18" charset="0"/>
                <a:cs typeface="Times New Roman" panose="02020603050405020304" pitchFamily="18" charset="0"/>
              </a:rPr>
              <a:t> Generally have the longest average durations, reflecting the complexity and intensity of care.</a:t>
            </a:r>
          </a:p>
          <a:p>
            <a:pPr lvl="1"/>
            <a:r>
              <a:rPr lang="en-US" sz="1400" b="1" dirty="0">
                <a:latin typeface="Times New Roman" panose="02020603050405020304" pitchFamily="18" charset="0"/>
                <a:cs typeface="Times New Roman" panose="02020603050405020304" pitchFamily="18" charset="0"/>
              </a:rPr>
              <a:t>Emergency Encounters:</a:t>
            </a:r>
            <a:r>
              <a:rPr lang="en-US" sz="1400" dirty="0">
                <a:latin typeface="Times New Roman" panose="02020603050405020304" pitchFamily="18" charset="0"/>
                <a:cs typeface="Times New Roman" panose="02020603050405020304" pitchFamily="18" charset="0"/>
              </a:rPr>
              <a:t> Show moderate durations, often requiring immediate but not necessarily prolonged care.</a:t>
            </a:r>
          </a:p>
          <a:p>
            <a:pPr lvl="1"/>
            <a:r>
              <a:rPr lang="en-US" sz="1400" b="1" dirty="0">
                <a:latin typeface="Times New Roman" panose="02020603050405020304" pitchFamily="18" charset="0"/>
                <a:cs typeface="Times New Roman" panose="02020603050405020304" pitchFamily="18" charset="0"/>
              </a:rPr>
              <a:t>Ambulatory/Outpatient Encounters:</a:t>
            </a:r>
            <a:r>
              <a:rPr lang="en-US" sz="1400" dirty="0">
                <a:latin typeface="Times New Roman" panose="02020603050405020304" pitchFamily="18" charset="0"/>
                <a:cs typeface="Times New Roman" panose="02020603050405020304" pitchFamily="18" charset="0"/>
              </a:rPr>
              <a:t> Typically have the shortest durations, aligning with routine visits and minor procedures.</a:t>
            </a:r>
          </a:p>
          <a:p>
            <a:pPr lvl="1"/>
            <a:r>
              <a:rPr lang="en-US" sz="1400" b="1" dirty="0">
                <a:latin typeface="Times New Roman" panose="02020603050405020304" pitchFamily="18" charset="0"/>
                <a:cs typeface="Times New Roman" panose="02020603050405020304" pitchFamily="18" charset="0"/>
              </a:rPr>
              <a:t>Impact:</a:t>
            </a:r>
            <a:r>
              <a:rPr lang="en-US" sz="1400" dirty="0">
                <a:latin typeface="Times New Roman" panose="02020603050405020304" pitchFamily="18" charset="0"/>
                <a:cs typeface="Times New Roman" panose="02020603050405020304" pitchFamily="18" charset="0"/>
              </a:rPr>
              <a:t> Longer durations can impact resource utilization and patient flow.</a:t>
            </a:r>
          </a:p>
          <a:p>
            <a:endParaRPr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5. Patients with Multiple Encounters/Procedures</a:t>
            </a:r>
            <a:endParaRPr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Analysis:</a:t>
            </a:r>
            <a:r>
              <a:rPr lang="en-US" sz="1600" dirty="0"/>
              <a:t> Identification of patients with a high frequency of encounters.</a:t>
            </a:r>
          </a:p>
          <a:p>
            <a:r>
              <a:rPr lang="en-US" sz="1600" b="1" dirty="0">
                <a:latin typeface="Times New Roman" panose="02020603050405020304" pitchFamily="18" charset="0"/>
                <a:cs typeface="Times New Roman" panose="02020603050405020304" pitchFamily="18" charset="0"/>
              </a:rPr>
              <a:t>Key Findings (from 'Identifying Patients with Multiple Procedures Across Encounters.csv’):</a:t>
            </a:r>
          </a:p>
          <a:p>
            <a:pPr lvl="1"/>
            <a:r>
              <a:rPr lang="en-US" sz="1400" dirty="0">
                <a:latin typeface="Times New Roman" panose="02020603050405020304" pitchFamily="18" charset="0"/>
                <a:cs typeface="Times New Roman" panose="02020603050405020304" pitchFamily="18" charset="0"/>
              </a:rPr>
              <a:t>A significant number of patients have multiple encounters, some with very high counts (e.g., Patient 0226f105-2572-1c6f-15f0-1aa0438e40d0 with 100+ encounters).</a:t>
            </a:r>
          </a:p>
          <a:p>
            <a:pPr lvl="1"/>
            <a:r>
              <a:rPr lang="en-US" sz="1400" dirty="0">
                <a:latin typeface="Times New Roman" panose="02020603050405020304" pitchFamily="18" charset="0"/>
                <a:cs typeface="Times New Roman" panose="02020603050405020304" pitchFamily="18" charset="0"/>
              </a:rPr>
              <a:t>Patients with high encounter counts, regardless of specific reason codes (including 'N/A' or blank reason codes), represent a cohort requiring care coordination and chronic disease management strategies.</a:t>
            </a:r>
          </a:p>
          <a:p>
            <a:pPr lvl="1"/>
            <a:r>
              <a:rPr lang="en-US" sz="1400" dirty="0">
                <a:latin typeface="Times New Roman" panose="02020603050405020304" pitchFamily="18" charset="0"/>
                <a:cs typeface="Times New Roman" panose="02020603050405020304" pitchFamily="18" charset="0"/>
              </a:rPr>
              <a:t>Understanding the underlying reasons for frequent encounters is crucial for targeted interventions.</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6. Payer Contributions &amp; Procedure Costs</a:t>
            </a: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Assessment of payer coverage relative to total claim costs for various procedure types.</a:t>
            </a:r>
          </a:p>
          <a:p>
            <a:r>
              <a:rPr lang="en-US" sz="1600" b="1" dirty="0">
                <a:latin typeface="Times New Roman" panose="02020603050405020304" pitchFamily="18" charset="0"/>
                <a:cs typeface="Times New Roman" panose="02020603050405020304" pitchFamily="18" charset="0"/>
              </a:rPr>
              <a:t>Key Findings (from 'Assessing Payer Contributions for Different Procedure Types.csv'):</a:t>
            </a:r>
            <a:endParaRPr lang="en-US" sz="1600" dirty="0">
              <a:latin typeface="Times New Roman" panose="02020603050405020304" pitchFamily="18" charset="0"/>
              <a:cs typeface="Times New Roman" panose="02020603050405020304" pitchFamily="18" charset="0"/>
            </a:endParaRPr>
          </a:p>
          <a:p>
            <a:pPr lvl="1"/>
            <a:r>
              <a:rPr lang="en-US" sz="1400" b="1" dirty="0">
                <a:latin typeface="Times New Roman" panose="02020603050405020304" pitchFamily="18" charset="0"/>
                <a:cs typeface="Times New Roman" panose="02020603050405020304" pitchFamily="18" charset="0"/>
              </a:rPr>
              <a:t>Procedure Code 180325003:</a:t>
            </a:r>
            <a:r>
              <a:rPr lang="en-US" sz="1400" dirty="0">
                <a:latin typeface="Times New Roman" panose="02020603050405020304" pitchFamily="18" charset="0"/>
                <a:cs typeface="Times New Roman" panose="02020603050405020304" pitchFamily="18" charset="0"/>
              </a:rPr>
              <a:t> Highest total claim cost, with a notable portion covered by payers.</a:t>
            </a:r>
          </a:p>
          <a:p>
            <a:pPr lvl="1"/>
            <a:r>
              <a:rPr lang="en-US" sz="1400" b="1" dirty="0">
                <a:latin typeface="Times New Roman" panose="02020603050405020304" pitchFamily="18" charset="0"/>
                <a:cs typeface="Times New Roman" panose="02020603050405020304" pitchFamily="18" charset="0"/>
              </a:rPr>
              <a:t>Procedure Code 274804006 &amp; 225158009:</a:t>
            </a:r>
            <a:r>
              <a:rPr lang="en-US" sz="1400" dirty="0">
                <a:latin typeface="Times New Roman" panose="02020603050405020304" pitchFamily="18" charset="0"/>
                <a:cs typeface="Times New Roman" panose="02020603050405020304" pitchFamily="18" charset="0"/>
              </a:rPr>
              <a:t> Also high in total claim cost and payer coverage.</a:t>
            </a:r>
          </a:p>
          <a:p>
            <a:pPr lvl="1"/>
            <a:r>
              <a:rPr lang="en-US" sz="1400" b="1" dirty="0">
                <a:latin typeface="Times New Roman" panose="02020603050405020304" pitchFamily="18" charset="0"/>
                <a:cs typeface="Times New Roman" panose="02020603050405020304" pitchFamily="18" charset="0"/>
              </a:rPr>
              <a:t>Uncovered Gaps:</a:t>
            </a:r>
            <a:r>
              <a:rPr lang="en-US" sz="1400" dirty="0">
                <a:latin typeface="Times New Roman" panose="02020603050405020304" pitchFamily="18" charset="0"/>
                <a:cs typeface="Times New Roman" panose="02020603050405020304" pitchFamily="18" charset="0"/>
              </a:rPr>
              <a:t> Identifying procedures with low payer coverage relative to total cost highlights potential revenue leakage or areas for negotiation.</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7. Risk Factors: Demographics &amp; Encounter Reasons</a:t>
            </a: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Correlation between demographic factors, encounter reasons, and encounter frequency as an indicator of risk.</a:t>
            </a:r>
          </a:p>
          <a:p>
            <a:r>
              <a:rPr lang="en-US" sz="1600" b="1" dirty="0">
                <a:latin typeface="Times New Roman" panose="02020603050405020304" pitchFamily="18" charset="0"/>
                <a:cs typeface="Times New Roman" panose="02020603050405020304" pitchFamily="18" charset="0"/>
              </a:rPr>
              <a:t>Key Findings (from 'Identifying Risk Factors Based on Demographics and Encounter Reasons.csv'):</a:t>
            </a:r>
            <a:endParaRPr lang="en-US" sz="1600" dirty="0">
              <a:latin typeface="Times New Roman" panose="02020603050405020304" pitchFamily="18" charset="0"/>
              <a:cs typeface="Times New Roman" panose="02020603050405020304" pitchFamily="18" charset="0"/>
            </a:endParaRPr>
          </a:p>
          <a:p>
            <a:pPr lvl="1"/>
            <a:r>
              <a:rPr lang="en-US" sz="1400" b="1" dirty="0">
                <a:latin typeface="Times New Roman" panose="02020603050405020304" pitchFamily="18" charset="0"/>
                <a:cs typeface="Times New Roman" panose="02020603050405020304" pitchFamily="18" charset="0"/>
              </a:rPr>
              <a:t>Age and Gender Influence:</a:t>
            </a:r>
            <a:r>
              <a:rPr lang="en-US" sz="1400" dirty="0">
                <a:latin typeface="Times New Roman" panose="02020603050405020304" pitchFamily="18" charset="0"/>
                <a:cs typeface="Times New Roman" panose="02020603050405020304" pitchFamily="18" charset="0"/>
              </a:rPr>
              <a:t> Specific age groups (e.g., 96-year-old females) and genders (e.g., F) show high encounter frequencies for certain reason codes (e.g., NULL reason codes).</a:t>
            </a:r>
          </a:p>
          <a:p>
            <a:pPr lvl="1"/>
            <a:r>
              <a:rPr lang="en-US" sz="1400" b="1" dirty="0">
                <a:latin typeface="Times New Roman" panose="02020603050405020304" pitchFamily="18" charset="0"/>
                <a:cs typeface="Times New Roman" panose="02020603050405020304" pitchFamily="18" charset="0"/>
              </a:rPr>
              <a:t>Frequent Reasons:</a:t>
            </a:r>
            <a:r>
              <a:rPr lang="en-US" sz="1400" dirty="0">
                <a:latin typeface="Times New Roman" panose="02020603050405020304" pitchFamily="18" charset="0"/>
                <a:cs typeface="Times New Roman" panose="02020603050405020304" pitchFamily="18" charset="0"/>
              </a:rPr>
              <a:t> Reasons like 'N/A' or unspecified reason codes frequently appear across different demographic segments, suggesting data completeness issues or common, yet unclassified, health issues driving encounters.</a:t>
            </a:r>
          </a:p>
          <a:p>
            <a:pPr lvl="1"/>
            <a:r>
              <a:rPr lang="en-US" sz="1400" b="1" dirty="0">
                <a:latin typeface="Times New Roman" panose="02020603050405020304" pitchFamily="18" charset="0"/>
                <a:cs typeface="Times New Roman" panose="02020603050405020304" pitchFamily="18" charset="0"/>
              </a:rPr>
              <a:t>Targeted Prevention:</a:t>
            </a:r>
            <a:r>
              <a:rPr lang="en-US" sz="1400" dirty="0">
                <a:latin typeface="Times New Roman" panose="02020603050405020304" pitchFamily="18" charset="0"/>
                <a:cs typeface="Times New Roman" panose="02020603050405020304" pitchFamily="18" charset="0"/>
              </a:rPr>
              <a:t> Insights can guide preventative care and risk stratification programs.</a:t>
            </a:r>
          </a:p>
          <a:p>
            <a:pPr marL="0" indent="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8. Frequent High-Cost Encounters</a:t>
            </a:r>
            <a:endParaRPr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Identification of patients with a high number of high-cost encounters and their associated total costs.</a:t>
            </a:r>
          </a:p>
          <a:p>
            <a:r>
              <a:rPr lang="en-US" sz="1600" b="1" dirty="0">
                <a:latin typeface="Times New Roman" panose="02020603050405020304" pitchFamily="18" charset="0"/>
                <a:cs typeface="Times New Roman" panose="02020603050405020304" pitchFamily="18" charset="0"/>
              </a:rPr>
              <a:t>Key Findings (from 'Identifying Patients with Frequent High-Cost Encounters.csv’):</a:t>
            </a:r>
          </a:p>
          <a:p>
            <a:pPr lvl="1"/>
            <a:r>
              <a:rPr lang="en-US" sz="1400" b="1" dirty="0">
                <a:latin typeface="Times New Roman" panose="02020603050405020304" pitchFamily="18" charset="0"/>
                <a:cs typeface="Times New Roman" panose="02020603050405020304" pitchFamily="18" charset="0"/>
              </a:rPr>
              <a:t>High-Cost Patients: </a:t>
            </a:r>
            <a:r>
              <a:rPr lang="en-US" sz="1400" dirty="0">
                <a:latin typeface="Times New Roman" panose="02020603050405020304" pitchFamily="18" charset="0"/>
                <a:cs typeface="Times New Roman" panose="02020603050405020304" pitchFamily="18" charset="0"/>
              </a:rPr>
              <a:t>Patient 3f523789-55f3-bb31-2757-4803ca6a9c2a stands out with 386 high-cost encounters totaling over $9.4 million.</a:t>
            </a:r>
          </a:p>
          <a:p>
            <a:pPr lvl="1"/>
            <a:r>
              <a:rPr lang="en-US" sz="1400" b="1" dirty="0">
                <a:latin typeface="Times New Roman" panose="02020603050405020304" pitchFamily="18" charset="0"/>
                <a:cs typeface="Times New Roman" panose="02020603050405020304" pitchFamily="18" charset="0"/>
              </a:rPr>
              <a:t>Other patients </a:t>
            </a:r>
            <a:r>
              <a:rPr lang="en-US" sz="1400" dirty="0">
                <a:latin typeface="Times New Roman" panose="02020603050405020304" pitchFamily="18" charset="0"/>
                <a:cs typeface="Times New Roman" panose="02020603050405020304" pitchFamily="18" charset="0"/>
              </a:rPr>
              <a:t>(e.g., 2aa3ac2a-88c6-3253-547d-6d8ed69790a3, 37448778-ee2f-f420-1dc0-cb6b5e147025) also exhibit significant high-cost encounter patterns.</a:t>
            </a:r>
          </a:p>
          <a:p>
            <a:pPr lvl="1"/>
            <a:r>
              <a:rPr lang="en-US" sz="1400" b="1" dirty="0">
                <a:latin typeface="Times New Roman" panose="02020603050405020304" pitchFamily="18" charset="0"/>
                <a:cs typeface="Times New Roman" panose="02020603050405020304" pitchFamily="18" charset="0"/>
              </a:rPr>
              <a:t>Case Management Opportunity: </a:t>
            </a:r>
            <a:r>
              <a:rPr lang="en-US" sz="1400" dirty="0">
                <a:latin typeface="Times New Roman" panose="02020603050405020304" pitchFamily="18" charset="0"/>
                <a:cs typeface="Times New Roman" panose="02020603050405020304" pitchFamily="18" charset="0"/>
              </a:rPr>
              <a:t>These patients are prime candidates for intensive care coordination, chronic disease management, and proactive interventions to reduce future high-cost events.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9. Geographical Analysis of Encounters &amp; Cost</a:t>
            </a:r>
          </a:p>
        </p:txBody>
      </p:sp>
      <p:sp>
        <p:nvSpPr>
          <p:cNvPr id="3" name="Content Placeholder 2"/>
          <p:cNvSpPr>
            <a:spLocks noGrp="1"/>
          </p:cNvSpPr>
          <p:nvPr>
            <p:ph idx="1"/>
          </p:nvPr>
        </p:nvSpPr>
        <p:spPr/>
        <p:txBody>
          <a:bodyPr>
            <a:normAutofit lnSpcReduction="10000"/>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Distribution of total claim costs across different geographical locations and organizations.</a:t>
            </a:r>
          </a:p>
          <a:p>
            <a:r>
              <a:rPr lang="en-US" sz="1600" b="1" dirty="0">
                <a:latin typeface="Times New Roman" panose="02020603050405020304" pitchFamily="18" charset="0"/>
                <a:cs typeface="Times New Roman" panose="02020603050405020304" pitchFamily="18" charset="0"/>
              </a:rPr>
              <a:t>Key Findings (from 'Geographical Analysis of Encounters by Organization and Cost.csv'):</a:t>
            </a:r>
            <a:endParaRPr lang="en-US" sz="1600" dirty="0">
              <a:latin typeface="Times New Roman" panose="02020603050405020304" pitchFamily="18" charset="0"/>
              <a:cs typeface="Times New Roman" panose="02020603050405020304" pitchFamily="18" charset="0"/>
            </a:endParaRPr>
          </a:p>
          <a:p>
            <a:pPr lvl="1"/>
            <a:r>
              <a:rPr lang="en-US" sz="1400" b="1" dirty="0">
                <a:latin typeface="Times New Roman" panose="02020603050405020304" pitchFamily="18" charset="0"/>
                <a:cs typeface="Times New Roman" panose="02020603050405020304" pitchFamily="18" charset="0"/>
              </a:rPr>
              <a:t>Boston, MA:</a:t>
            </a:r>
            <a:r>
              <a:rPr lang="en-US" sz="1400" dirty="0">
                <a:latin typeface="Times New Roman" panose="02020603050405020304" pitchFamily="18" charset="0"/>
                <a:cs typeface="Times New Roman" panose="02020603050405020304" pitchFamily="18" charset="0"/>
              </a:rPr>
              <a:t> Shows the highest total claim costs across various organizations, indicating a high volume of healthcare activity and expenditure in this metropolitan area.</a:t>
            </a:r>
          </a:p>
          <a:p>
            <a:pPr lvl="1"/>
            <a:r>
              <a:rPr lang="en-US" sz="1400" b="1" dirty="0">
                <a:latin typeface="Times New Roman" panose="02020603050405020304" pitchFamily="18" charset="0"/>
                <a:cs typeface="Times New Roman" panose="02020603050405020304" pitchFamily="18" charset="0"/>
              </a:rPr>
              <a:t>Other Significant Locations:</a:t>
            </a:r>
            <a:r>
              <a:rPr lang="en-US" sz="1400" dirty="0">
                <a:latin typeface="Times New Roman" panose="02020603050405020304" pitchFamily="18" charset="0"/>
                <a:cs typeface="Times New Roman" panose="02020603050405020304" pitchFamily="18" charset="0"/>
              </a:rPr>
              <a:t> Everett, Hull, Brookline, Somerville, Cambridge, Weymouth, Melrose, Revere, Hingham, Norwell, Scituate, Braintree, Stoneham, Reading, Malden, Newton, Chelsea, etc. also contribute significantly to total costs.</a:t>
            </a:r>
          </a:p>
          <a:p>
            <a:pPr lvl="1"/>
            <a:r>
              <a:rPr lang="en-US" sz="1400" b="1" dirty="0">
                <a:latin typeface="Times New Roman" panose="02020603050405020304" pitchFamily="18" charset="0"/>
                <a:cs typeface="Times New Roman" panose="02020603050405020304" pitchFamily="18" charset="0"/>
              </a:rPr>
              <a:t>Resource Allocation:</a:t>
            </a:r>
            <a:r>
              <a:rPr lang="en-US" sz="1400" dirty="0">
                <a:latin typeface="Times New Roman" panose="02020603050405020304" pitchFamily="18" charset="0"/>
                <a:cs typeface="Times New Roman" panose="02020603050405020304" pitchFamily="18" charset="0"/>
              </a:rPr>
              <a:t> Data can inform strategic resource allocation and service planning based on regional demand and cost profiles.</a:t>
            </a:r>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10. Procedure Cost Trends by Diagnosis</a:t>
            </a:r>
          </a:p>
        </p:txBody>
      </p:sp>
      <p:sp>
        <p:nvSpPr>
          <p:cNvPr id="3" name="Content Placeholder 2"/>
          <p:cNvSpPr>
            <a:spLocks noGrp="1"/>
          </p:cNvSpPr>
          <p:nvPr>
            <p:ph idx="1"/>
          </p:nvPr>
        </p:nvSpPr>
        <p:spPr/>
        <p:txBody>
          <a:bodyPr>
            <a:normAutofit lnSpcReduction="10000"/>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Evolution of procedure costs over time for specific diagnoses.</a:t>
            </a:r>
          </a:p>
          <a:p>
            <a:r>
              <a:rPr lang="en-US" sz="1600" b="1" dirty="0">
                <a:latin typeface="Times New Roman" panose="02020603050405020304" pitchFamily="18" charset="0"/>
                <a:cs typeface="Times New Roman" panose="02020603050405020304" pitchFamily="18" charset="0"/>
              </a:rPr>
              <a:t>Key Findings (from 'Procedure Cost Trend by Diagnosis.csv'):</a:t>
            </a:r>
            <a:endParaRPr lang="en-US" sz="1600" dirty="0">
              <a:latin typeface="Times New Roman" panose="02020603050405020304" pitchFamily="18" charset="0"/>
              <a:cs typeface="Times New Roman" panose="02020603050405020304" pitchFamily="18" charset="0"/>
            </a:endParaRPr>
          </a:p>
          <a:p>
            <a:pPr lvl="1"/>
            <a:r>
              <a:rPr lang="en-US" sz="1400" b="1" dirty="0">
                <a:latin typeface="Times New Roman" panose="02020603050405020304" pitchFamily="18" charset="0"/>
                <a:cs typeface="Times New Roman" panose="02020603050405020304" pitchFamily="18" charset="0"/>
              </a:rPr>
              <a:t>Atrial Fibrillation:</a:t>
            </a:r>
            <a:r>
              <a:rPr lang="en-US" sz="1400" dirty="0">
                <a:latin typeface="Times New Roman" panose="02020603050405020304" pitchFamily="18" charset="0"/>
                <a:cs typeface="Times New Roman" panose="02020603050405020304" pitchFamily="18" charset="0"/>
              </a:rPr>
              <a:t> Shows a significant increase in base costs from 2011 to 2013, then stabilizing.</a:t>
            </a:r>
          </a:p>
          <a:p>
            <a:pPr lvl="1"/>
            <a:r>
              <a:rPr lang="en-US" sz="1400" b="1" dirty="0">
                <a:latin typeface="Times New Roman" panose="02020603050405020304" pitchFamily="18" charset="0"/>
                <a:cs typeface="Times New Roman" panose="02020603050405020304" pitchFamily="18" charset="0"/>
              </a:rPr>
              <a:t>Normal Pregnancy:</a:t>
            </a:r>
            <a:r>
              <a:rPr lang="en-US" sz="1400" dirty="0">
                <a:latin typeface="Times New Roman" panose="02020603050405020304" pitchFamily="18" charset="0"/>
                <a:cs typeface="Times New Roman" panose="02020603050405020304" pitchFamily="18" charset="0"/>
              </a:rPr>
              <a:t> Consistently high base costs, with fluctuations over the years.</a:t>
            </a:r>
          </a:p>
          <a:p>
            <a:pPr lvl="1"/>
            <a:r>
              <a:rPr lang="en-US" sz="1400" b="1" dirty="0">
                <a:latin typeface="Times New Roman" panose="02020603050405020304" pitchFamily="18" charset="0"/>
                <a:cs typeface="Times New Roman" panose="02020603050405020304" pitchFamily="18" charset="0"/>
              </a:rPr>
              <a:t>Malignant Neoplasm of Breast/Colon, Lung Cancers:</a:t>
            </a:r>
            <a:r>
              <a:rPr lang="en-US" sz="1400" dirty="0">
                <a:latin typeface="Times New Roman" panose="02020603050405020304" pitchFamily="18" charset="0"/>
                <a:cs typeface="Times New Roman" panose="02020603050405020304" pitchFamily="18" charset="0"/>
              </a:rPr>
              <a:t> Generally show increasing or fluctuating costs, reflecting ongoing treatment and diagnostic advancements.</a:t>
            </a:r>
          </a:p>
          <a:p>
            <a:pPr lvl="1"/>
            <a:r>
              <a:rPr lang="en-US" sz="1400" b="1" dirty="0">
                <a:latin typeface="Times New Roman" panose="02020603050405020304" pitchFamily="18" charset="0"/>
                <a:cs typeface="Times New Roman" panose="02020603050405020304" pitchFamily="18" charset="0"/>
              </a:rPr>
              <a:t>Chronic Conditions (e.g., COPD, CHF):</a:t>
            </a:r>
            <a:r>
              <a:rPr lang="en-US" sz="1400" dirty="0">
                <a:latin typeface="Times New Roman" panose="02020603050405020304" pitchFamily="18" charset="0"/>
                <a:cs typeface="Times New Roman" panose="02020603050405020304" pitchFamily="18" charset="0"/>
              </a:rPr>
              <a:t> Costs tend to increase, indicating the long-term management burden.</a:t>
            </a:r>
          </a:p>
          <a:p>
            <a:pPr lvl="1"/>
            <a:r>
              <a:rPr lang="en-US" sz="1400" b="1" dirty="0">
                <a:latin typeface="Times New Roman" panose="02020603050405020304" pitchFamily="18" charset="0"/>
                <a:cs typeface="Times New Roman" panose="02020603050405020304" pitchFamily="18" charset="0"/>
              </a:rPr>
              <a:t>Trend Monitoring:</a:t>
            </a:r>
            <a:r>
              <a:rPr lang="en-US" sz="1400" dirty="0">
                <a:latin typeface="Times New Roman" panose="02020603050405020304" pitchFamily="18" charset="0"/>
                <a:cs typeface="Times New Roman" panose="02020603050405020304" pitchFamily="18" charset="0"/>
              </a:rPr>
              <a:t> Continuous monitoring of these trends is essential for financial forecasting and clinical pathway optimization.</a:t>
            </a:r>
          </a:p>
          <a:p>
            <a:pPr marL="0" indent="0">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11. Uncovered Costs by Payer and Reason Code</a:t>
            </a:r>
            <a:endParaRPr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Identification of costs not covered by payers, broken down by reason code.</a:t>
            </a:r>
          </a:p>
          <a:p>
            <a:r>
              <a:rPr lang="en-US" sz="1600" b="1" dirty="0">
                <a:latin typeface="Times New Roman" panose="02020603050405020304" pitchFamily="18" charset="0"/>
                <a:cs typeface="Times New Roman" panose="02020603050405020304" pitchFamily="18" charset="0"/>
              </a:rPr>
              <a:t>Key Findings (from 'Uncovered Costs by Payer and Reason Code.csv’):</a:t>
            </a:r>
          </a:p>
          <a:p>
            <a:pPr lvl="1"/>
            <a:r>
              <a:rPr lang="en-US" sz="1400" b="1" dirty="0">
                <a:latin typeface="Times New Roman" panose="02020603050405020304" pitchFamily="18" charset="0"/>
                <a:cs typeface="Times New Roman" panose="02020603050405020304" pitchFamily="18" charset="0"/>
              </a:rPr>
              <a:t>Significant Uncovered Costs: </a:t>
            </a:r>
            <a:r>
              <a:rPr lang="en-US" sz="1400" dirty="0">
                <a:latin typeface="Times New Roman" panose="02020603050405020304" pitchFamily="18" charset="0"/>
                <a:cs typeface="Times New Roman" panose="02020603050405020304" pitchFamily="18" charset="0"/>
              </a:rPr>
              <a:t>A large portion of uncovered costs are associated with NULL reason codes, highlighting data quality issues or unidentified reasons for non-coverage.</a:t>
            </a:r>
          </a:p>
          <a:p>
            <a:pPr lvl="1"/>
            <a:r>
              <a:rPr lang="en-US" sz="1400" b="1" dirty="0">
                <a:latin typeface="Times New Roman" panose="02020603050405020304" pitchFamily="18" charset="0"/>
                <a:cs typeface="Times New Roman" panose="02020603050405020304" pitchFamily="18" charset="0"/>
              </a:rPr>
              <a:t>Normal Pregnancy: </a:t>
            </a:r>
            <a:r>
              <a:rPr lang="en-US" sz="1400" dirty="0">
                <a:latin typeface="Times New Roman" panose="02020603050405020304" pitchFamily="18" charset="0"/>
                <a:cs typeface="Times New Roman" panose="02020603050405020304" pitchFamily="18" charset="0"/>
              </a:rPr>
              <a:t>High uncovered costs, despite also having high payer coverage, suggesting specific services or complications are not fully covered.</a:t>
            </a:r>
          </a:p>
          <a:p>
            <a:pPr lvl="1"/>
            <a:r>
              <a:rPr lang="en-US" sz="1400" b="1" dirty="0">
                <a:latin typeface="Times New Roman" panose="02020603050405020304" pitchFamily="18" charset="0"/>
                <a:cs typeface="Times New Roman" panose="02020603050405020304" pitchFamily="18" charset="0"/>
              </a:rPr>
              <a:t>Sepsis, Malignant Neoplasms</a:t>
            </a:r>
            <a:r>
              <a:rPr lang="en-US" sz="1400" dirty="0">
                <a:latin typeface="Times New Roman" panose="02020603050405020304" pitchFamily="18" charset="0"/>
                <a:cs typeface="Times New Roman" panose="02020603050405020304" pitchFamily="18" charset="0"/>
              </a:rPr>
              <a:t> (Breast, Lung, Colon), Chronic Congestive Heart Failure, Acute Bronchitis: These conditions show substantial uncovered costs, indicating potential gaps in insurance coverage or high patient out-of-pocket expenses for serious conditions.</a:t>
            </a:r>
          </a:p>
          <a:p>
            <a:pPr lvl="1"/>
            <a:r>
              <a:rPr lang="en-US" sz="1400" b="1" dirty="0">
                <a:latin typeface="Times New Roman" panose="02020603050405020304" pitchFamily="18" charset="0"/>
                <a:cs typeface="Times New Roman" panose="02020603050405020304" pitchFamily="18" charset="0"/>
              </a:rPr>
              <a:t>Financial Impact: </a:t>
            </a:r>
            <a:r>
              <a:rPr lang="en-US" sz="1400" dirty="0">
                <a:latin typeface="Times New Roman" panose="02020603050405020304" pitchFamily="18" charset="0"/>
                <a:cs typeface="Times New Roman" panose="02020603050405020304" pitchFamily="18" charset="0"/>
              </a:rPr>
              <a:t>These insights are critical for revenue cycle management, patient financial counseling, and policy advocacy.</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12. Encounter Cost Distribution by Class</a:t>
            </a:r>
          </a:p>
        </p:txBody>
      </p:sp>
      <p:sp>
        <p:nvSpPr>
          <p:cNvPr id="3" name="Content Placeholder 2"/>
          <p:cNvSpPr>
            <a:spLocks noGrp="1"/>
          </p:cNvSpPr>
          <p:nvPr>
            <p:ph idx="1"/>
          </p:nvPr>
        </p:nvSpPr>
        <p:spPr/>
        <p:txBody>
          <a:bodyPr>
            <a:normAutofit lnSpcReduction="10000"/>
          </a:bodyPr>
          <a:lstStyle/>
          <a:p>
            <a:r>
              <a:rPr lang="en-US" sz="1600" b="1" dirty="0">
                <a:latin typeface="Times New Roman" panose="02020603050405020304" pitchFamily="18" charset="0"/>
                <a:cs typeface="Times New Roman" panose="02020603050405020304" pitchFamily="18" charset="0"/>
              </a:rPr>
              <a:t>Analysis:</a:t>
            </a:r>
            <a:r>
              <a:rPr lang="en-US" sz="1600" dirty="0">
                <a:latin typeface="Times New Roman" panose="02020603050405020304" pitchFamily="18" charset="0"/>
                <a:cs typeface="Times New Roman" panose="02020603050405020304" pitchFamily="18" charset="0"/>
              </a:rPr>
              <a:t> Breakdown of total claim costs and base encounter costs by encounter class.</a:t>
            </a:r>
          </a:p>
          <a:p>
            <a:r>
              <a:rPr lang="en-US" sz="1600" b="1" dirty="0">
                <a:latin typeface="Times New Roman" panose="02020603050405020304" pitchFamily="18" charset="0"/>
                <a:cs typeface="Times New Roman" panose="02020603050405020304" pitchFamily="18" charset="0"/>
              </a:rPr>
              <a:t>Key Findings (from 'Encounter Cost Distribution by Encounter Class.csv'):</a:t>
            </a:r>
            <a:endParaRPr lang="en-US" sz="1600" dirty="0">
              <a:latin typeface="Times New Roman" panose="02020603050405020304" pitchFamily="18" charset="0"/>
              <a:cs typeface="Times New Roman" panose="02020603050405020304" pitchFamily="18" charset="0"/>
            </a:endParaRPr>
          </a:p>
          <a:p>
            <a:pPr lvl="1"/>
            <a:r>
              <a:rPr lang="en-US" sz="1400" b="1" dirty="0">
                <a:latin typeface="Times New Roman" panose="02020603050405020304" pitchFamily="18" charset="0"/>
                <a:cs typeface="Times New Roman" panose="02020603050405020304" pitchFamily="18" charset="0"/>
              </a:rPr>
              <a:t>Ambulatory Encounters:</a:t>
            </a:r>
            <a:r>
              <a:rPr lang="en-US" sz="1400" dirty="0">
                <a:latin typeface="Times New Roman" panose="02020603050405020304" pitchFamily="18" charset="0"/>
                <a:cs typeface="Times New Roman" panose="02020603050405020304" pitchFamily="18" charset="0"/>
              </a:rPr>
              <a:t> Account for the highest total claim costs, likely due to high volume.</a:t>
            </a:r>
          </a:p>
          <a:p>
            <a:pPr lvl="1"/>
            <a:r>
              <a:rPr lang="en-US" sz="1400" b="1" dirty="0">
                <a:latin typeface="Times New Roman" panose="02020603050405020304" pitchFamily="18" charset="0"/>
                <a:cs typeface="Times New Roman" panose="02020603050405020304" pitchFamily="18" charset="0"/>
              </a:rPr>
              <a:t>Urgent Care:</a:t>
            </a:r>
            <a:r>
              <a:rPr lang="en-US" sz="1400" dirty="0">
                <a:latin typeface="Times New Roman" panose="02020603050405020304" pitchFamily="18" charset="0"/>
                <a:cs typeface="Times New Roman" panose="02020603050405020304" pitchFamily="18" charset="0"/>
              </a:rPr>
              <a:t> Significant total claim costs, indicating its role in immediate care needs.</a:t>
            </a:r>
          </a:p>
          <a:p>
            <a:pPr lvl="1"/>
            <a:r>
              <a:rPr lang="en-US" sz="1400" b="1" dirty="0">
                <a:latin typeface="Times New Roman" panose="02020603050405020304" pitchFamily="18" charset="0"/>
                <a:cs typeface="Times New Roman" panose="02020603050405020304" pitchFamily="18" charset="0"/>
              </a:rPr>
              <a:t>Inpatient Encounters:</a:t>
            </a:r>
            <a:r>
              <a:rPr lang="en-US" sz="1400" dirty="0">
                <a:latin typeface="Times New Roman" panose="02020603050405020304" pitchFamily="18" charset="0"/>
                <a:cs typeface="Times New Roman" panose="02020603050405020304" pitchFamily="18" charset="0"/>
              </a:rPr>
              <a:t> While not explicitly listed as highest total, typically have higher average base costs per encounter due to complexity.</a:t>
            </a:r>
          </a:p>
          <a:p>
            <a:pPr lvl="1"/>
            <a:r>
              <a:rPr lang="en-US" sz="1400" dirty="0">
                <a:latin typeface="Times New Roman" panose="02020603050405020304" pitchFamily="18" charset="0"/>
                <a:cs typeface="Times New Roman" panose="02020603050405020304" pitchFamily="18" charset="0"/>
              </a:rPr>
              <a:t>Understanding this distribution helps in resource allocation and cost control specific to each service line.</a:t>
            </a:r>
          </a:p>
          <a:p>
            <a:pPr marL="0" indent="0">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AF18-74C4-2BC0-4442-600585144DDF}"/>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13. Recommendations &amp; Next Steps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151737-746C-8D74-F126-E309C6DC7B96}"/>
              </a:ext>
            </a:extLst>
          </p:cNvPr>
          <p:cNvSpPr>
            <a:spLocks noGrp="1"/>
          </p:cNvSpPr>
          <p:nvPr>
            <p:ph idx="1"/>
          </p:nvPr>
        </p:nvSpPr>
        <p:spPr/>
        <p:txBody>
          <a:bodyPr>
            <a:normAutofit fontScale="85000" lnSpcReduction="20000"/>
          </a:bodyPr>
          <a:lstStyle/>
          <a:p>
            <a:r>
              <a:rPr lang="en-US" sz="1600" b="1" dirty="0">
                <a:latin typeface="Times New Roman" panose="02020603050405020304" pitchFamily="18" charset="0"/>
                <a:cs typeface="Times New Roman" panose="02020603050405020304" pitchFamily="18" charset="0"/>
              </a:rPr>
              <a:t>Data Quality Improvement: </a:t>
            </a:r>
            <a:r>
              <a:rPr lang="en-US" sz="1600" dirty="0">
                <a:latin typeface="Times New Roman" panose="02020603050405020304" pitchFamily="18" charset="0"/>
                <a:cs typeface="Times New Roman" panose="02020603050405020304" pitchFamily="18" charset="0"/>
              </a:rPr>
              <a:t>Address NULL and unspecified reason codes in encounter outcomes, risk factors, and uncovered costs for more accurate analysis.</a:t>
            </a:r>
          </a:p>
          <a:p>
            <a:r>
              <a:rPr lang="en-US" sz="1600" b="1" dirty="0">
                <a:latin typeface="Times New Roman" panose="02020603050405020304" pitchFamily="18" charset="0"/>
                <a:cs typeface="Times New Roman" panose="02020603050405020304" pitchFamily="18" charset="0"/>
              </a:rPr>
              <a:t>Targeted Case Management: </a:t>
            </a:r>
            <a:r>
              <a:rPr lang="en-US" sz="1600" dirty="0">
                <a:latin typeface="Times New Roman" panose="02020603050405020304" pitchFamily="18" charset="0"/>
                <a:cs typeface="Times New Roman" panose="02020603050405020304" pitchFamily="18" charset="0"/>
              </a:rPr>
              <a:t>Implement proactive case management programs for patients identified with frequent high-cost encounters.</a:t>
            </a:r>
          </a:p>
          <a:p>
            <a:r>
              <a:rPr lang="en-US" sz="1600" b="1" dirty="0">
                <a:latin typeface="Times New Roman" panose="02020603050405020304" pitchFamily="18" charset="0"/>
                <a:cs typeface="Times New Roman" panose="02020603050405020304" pitchFamily="18" charset="0"/>
              </a:rPr>
              <a:t>Payer Contract Review: </a:t>
            </a:r>
            <a:r>
              <a:rPr lang="en-US" sz="1600" dirty="0">
                <a:latin typeface="Times New Roman" panose="02020603050405020304" pitchFamily="18" charset="0"/>
                <a:cs typeface="Times New Roman" panose="02020603050405020304" pitchFamily="18" charset="0"/>
              </a:rPr>
              <a:t>Analyze payer contributions and uncovered costs for specific procedure types and diagnoses to identify negotiation opportunities and improve revenue capture.</a:t>
            </a:r>
          </a:p>
          <a:p>
            <a:r>
              <a:rPr lang="en-US" sz="1600" b="1" dirty="0">
                <a:latin typeface="Times New Roman" panose="02020603050405020304" pitchFamily="18" charset="0"/>
                <a:cs typeface="Times New Roman" panose="02020603050405020304" pitchFamily="18" charset="0"/>
              </a:rPr>
              <a:t>Clinical Pathway Optimization: </a:t>
            </a:r>
            <a:r>
              <a:rPr lang="en-US" sz="1600" dirty="0">
                <a:latin typeface="Times New Roman" panose="02020603050405020304" pitchFamily="18" charset="0"/>
                <a:cs typeface="Times New Roman" panose="02020603050405020304" pitchFamily="18" charset="0"/>
              </a:rPr>
              <a:t>Review and optimize clinical pathways for high-cost diagnoses and long-duration encounter classes to enhance efficiency and reduce costs.</a:t>
            </a:r>
          </a:p>
          <a:p>
            <a:r>
              <a:rPr lang="en-US" sz="1600" b="1" dirty="0">
                <a:latin typeface="Times New Roman" panose="02020603050405020304" pitchFamily="18" charset="0"/>
                <a:cs typeface="Times New Roman" panose="02020603050405020304" pitchFamily="18" charset="0"/>
              </a:rPr>
              <a:t>Geographical Strategy: </a:t>
            </a:r>
            <a:r>
              <a:rPr lang="en-US" sz="1600" dirty="0">
                <a:latin typeface="Times New Roman" panose="02020603050405020304" pitchFamily="18" charset="0"/>
                <a:cs typeface="Times New Roman" panose="02020603050405020304" pitchFamily="18" charset="0"/>
              </a:rPr>
              <a:t>Use geographical cost data to inform service expansion, facility planning, and community health initiatives.</a:t>
            </a:r>
          </a:p>
          <a:p>
            <a:r>
              <a:rPr lang="en-US" sz="1600" b="1" dirty="0">
                <a:latin typeface="Times New Roman" panose="02020603050405020304" pitchFamily="18" charset="0"/>
                <a:cs typeface="Times New Roman" panose="02020603050405020304" pitchFamily="18" charset="0"/>
              </a:rPr>
              <a:t>Predictive Analytics: </a:t>
            </a:r>
            <a:r>
              <a:rPr lang="en-US" sz="1600" dirty="0">
                <a:latin typeface="Times New Roman" panose="02020603050405020304" pitchFamily="18" charset="0"/>
                <a:cs typeface="Times New Roman" panose="02020603050405020304" pitchFamily="18" charset="0"/>
              </a:rPr>
              <a:t>Develop predictive models for identifying patients at risk of high-cost encounters or poor outcomes.</a:t>
            </a:r>
          </a:p>
          <a:p>
            <a:r>
              <a:rPr lang="en-US" sz="1600" b="1" dirty="0">
                <a:latin typeface="Times New Roman" panose="02020603050405020304" pitchFamily="18" charset="0"/>
                <a:cs typeface="Times New Roman" panose="02020603050405020304" pitchFamily="18" charset="0"/>
              </a:rPr>
              <a:t>Regular Reporting: </a:t>
            </a:r>
            <a:r>
              <a:rPr lang="en-US" sz="1600" dirty="0">
                <a:latin typeface="Times New Roman" panose="02020603050405020304" pitchFamily="18" charset="0"/>
                <a:cs typeface="Times New Roman" panose="02020603050405020304" pitchFamily="18" charset="0"/>
              </a:rPr>
              <a:t>Establish a cadence for reviewing these key metrics to ensure continuous improvement in financial and risk management.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2613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0ADA9-BDA8-8E2A-2B9D-25CA9937B190}"/>
              </a:ext>
            </a:extLst>
          </p:cNvPr>
          <p:cNvSpPr>
            <a:spLocks noGrp="1"/>
          </p:cNvSpPr>
          <p:nvPr>
            <p:ph type="title"/>
          </p:nvPr>
        </p:nvSpPr>
        <p:spPr/>
        <p:txBody>
          <a:bodyPr>
            <a:normAutofit/>
          </a:bodyPr>
          <a:lstStyle/>
          <a:p>
            <a:r>
              <a:rPr lang="en-US" sz="2700" b="1" dirty="0">
                <a:latin typeface="Times New Roman" panose="02020603050405020304" pitchFamily="18" charset="0"/>
                <a:cs typeface="Times New Roman" panose="02020603050405020304" pitchFamily="18" charset="0"/>
              </a:rPr>
              <a:t>14. Conclusion</a:t>
            </a:r>
            <a:br>
              <a:rPr lang="en-US" b="1" dirty="0"/>
            </a:br>
            <a:endParaRPr lang="en-IN" dirty="0"/>
          </a:p>
        </p:txBody>
      </p:sp>
      <p:sp>
        <p:nvSpPr>
          <p:cNvPr id="3" name="Content Placeholder 2">
            <a:extLst>
              <a:ext uri="{FF2B5EF4-FFF2-40B4-BE49-F238E27FC236}">
                <a16:creationId xmlns:a16="http://schemas.microsoft.com/office/drawing/2014/main" id="{7E7FF6C6-D37A-493A-594E-D98FFAA4EEE6}"/>
              </a:ext>
            </a:extLst>
          </p:cNvPr>
          <p:cNvSpPr>
            <a:spLocks noGrp="1"/>
          </p:cNvSpPr>
          <p:nvPr>
            <p:ph idx="1"/>
          </p:nvPr>
        </p:nvSpPr>
        <p:spPr/>
        <p:txBody>
          <a:bodyPr/>
          <a:lstStyle/>
          <a:p>
            <a:pPr marL="0" indent="0">
              <a:buNone/>
            </a:pPr>
            <a:r>
              <a:rPr lang="en-US" sz="1600" dirty="0">
                <a:latin typeface="Times New Roman" panose="02020603050405020304" pitchFamily="18" charset="0"/>
                <a:cs typeface="Times New Roman" panose="02020603050405020304" pitchFamily="18" charset="0"/>
              </a:rPr>
              <a:t>Thank you for your attention. We believe these insights will significantly aid in optimizing healthcare operations, managing financial risks, and ultimately improving patient outcomes. We are open to any questions or further discussion.</a:t>
            </a:r>
          </a:p>
          <a:p>
            <a:endParaRPr lang="en-IN" dirty="0"/>
          </a:p>
        </p:txBody>
      </p:sp>
    </p:spTree>
    <p:extLst>
      <p:ext uri="{BB962C8B-B14F-4D97-AF65-F5344CB8AC3E}">
        <p14:creationId xmlns:p14="http://schemas.microsoft.com/office/powerpoint/2010/main" val="39224383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114</TotalTime>
  <Words>1568</Words>
  <Application>Microsoft Office PowerPoint</Application>
  <PresentationFormat>On-screen Show (4:3)</PresentationFormat>
  <Paragraphs>104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Garamond</vt:lpstr>
      <vt:lpstr>Times New Roman</vt:lpstr>
      <vt:lpstr>Organic</vt:lpstr>
      <vt:lpstr>Patient Encounter Cost And Risk Analysis In Healthcare Systems</vt:lpstr>
      <vt:lpstr>1. Project Overview</vt:lpstr>
      <vt:lpstr>2. Data Model &amp; Preprocessing</vt:lpstr>
      <vt:lpstr>3. Financial Risk by Encounter Outcome</vt:lpstr>
      <vt:lpstr>4. Patient Encounter Duration Analysis</vt:lpstr>
      <vt:lpstr>5. Patients with Multiple Encounters/Procedures</vt:lpstr>
      <vt:lpstr>6. Payer Contributions &amp; Procedure Costs</vt:lpstr>
      <vt:lpstr>7. Risk Factors: Demographics &amp; Encounter Reasons</vt:lpstr>
      <vt:lpstr>8. Frequent High-Cost Encounters</vt:lpstr>
      <vt:lpstr>9. Geographical Analysis of Encounters &amp; Cost</vt:lpstr>
      <vt:lpstr>10. Procedure Cost Trends by Diagnosis</vt:lpstr>
      <vt:lpstr>11. Uncovered Costs by Payer and Reason Code</vt:lpstr>
      <vt:lpstr>12. Encounter Cost Distribution by Class</vt:lpstr>
      <vt:lpstr>13. Recommendations &amp; Next Steps</vt:lpstr>
      <vt:lpstr>14. Conclusion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SOURAV KUMAR</cp:lastModifiedBy>
  <cp:revision>1</cp:revision>
  <dcterms:created xsi:type="dcterms:W3CDTF">2013-01-27T09:14:16Z</dcterms:created>
  <dcterms:modified xsi:type="dcterms:W3CDTF">2025-07-13T14:00:17Z</dcterms:modified>
  <cp:category/>
</cp:coreProperties>
</file>